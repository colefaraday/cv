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</p:sldMasterIdLst>
  <p:notesMasterIdLst>
    <p:notesMasterId r:id="rId22"/>
  </p:notesMasterIdLst>
  <p:handoutMasterIdLst>
    <p:handoutMasterId r:id="rId23"/>
  </p:handoutMasterIdLst>
  <p:sldIdLst>
    <p:sldId id="256" r:id="rId4"/>
    <p:sldId id="295" r:id="rId5"/>
    <p:sldId id="259" r:id="rId6"/>
    <p:sldId id="463" r:id="rId7"/>
    <p:sldId id="451" r:id="rId8"/>
    <p:sldId id="477" r:id="rId9"/>
    <p:sldId id="476" r:id="rId10"/>
    <p:sldId id="453" r:id="rId11"/>
    <p:sldId id="464" r:id="rId12"/>
    <p:sldId id="454" r:id="rId13"/>
    <p:sldId id="455" r:id="rId14"/>
    <p:sldId id="458" r:id="rId15"/>
    <p:sldId id="472" r:id="rId16"/>
    <p:sldId id="280" r:id="rId17"/>
    <p:sldId id="457" r:id="rId18"/>
    <p:sldId id="459" r:id="rId19"/>
    <p:sldId id="468" r:id="rId20"/>
    <p:sldId id="456" r:id="rId21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" initials="" lastIdx="16" clrIdx="0"/>
  <p:cmAuthor id="1" name="Cole Faraday" initials="CF" lastIdx="1" clrIdx="1">
    <p:extLst>
      <p:ext uri="{19B8F6BF-5375-455C-9EA6-DF929625EA0E}">
        <p15:presenceInfo xmlns:p15="http://schemas.microsoft.com/office/powerpoint/2012/main" userId="S::FRDCOL002@myuct.ac.za::7c9ad796-b931-4e76-864d-1f47266588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2"/>
    <p:restoredTop sz="86957"/>
  </p:normalViewPr>
  <p:slideViewPr>
    <p:cSldViewPr snapToGrid="0">
      <p:cViewPr>
        <p:scale>
          <a:sx n="115" d="100"/>
          <a:sy n="115" d="100"/>
        </p:scale>
        <p:origin x="1056" y="10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446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14E385-44F3-770A-AE5A-2CEC44FC1C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CF9E7-C6E9-36A1-9727-737F3081E6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6BF4F-86C3-1B4B-8D8E-FE5463CEDD2C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E96DF-4AE9-8F70-538C-13097DE2FD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48272-135B-A546-049F-ACF01F0C44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93BE2-3095-7F4B-8B54-65C6313B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4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B088A-F36B-C843-BF0C-39E896435F40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C7FA3-EA5F-FA4C-9981-ACB183D07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20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6A41-6E46-7FCF-5D62-6516BE42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99E8E-B5BE-1594-F748-B7FC9265D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10E21-A7C3-6F14-3483-4B5A4E99E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EFF10-11EE-0CB9-BD0E-26BD5E410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55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32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82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25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98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55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34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56AF2-13B3-C403-BF30-407C63EB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C4F7A-6000-8D2E-448A-C5C095FCE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0DB54-1557-F6BF-7E25-5D5761FC5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Data subsets can test model consistency and highlight missing physics.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/>
              <a:t>Provides a quick way to identify sensitive observables and potential gaps in the model.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5B736-DA74-5261-39C7-D9CEBB882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7FA3-EA5F-FA4C-9981-ACB183D07C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8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F4F645-C485-A5C8-7F41-D05BC971BB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682" y="4977501"/>
            <a:ext cx="4617318" cy="21560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Citation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A576F-0028-7DFA-A581-87513891E1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444" y="1095231"/>
            <a:ext cx="8901112" cy="3684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9C6402-5C8B-937B-BED8-D2E22D11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825" y="117988"/>
            <a:ext cx="9360000" cy="718920"/>
          </a:xfrm>
        </p:spPr>
        <p:txBody>
          <a:bodyPr/>
          <a:lstStyle>
            <a:lvl1pPr>
              <a:defRPr b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3B9F4B-0E8B-DA1A-5A47-C51523A5E0B6}"/>
              </a:ext>
            </a:extLst>
          </p:cNvPr>
          <p:cNvGrpSpPr/>
          <p:nvPr userDrawn="1"/>
        </p:nvGrpSpPr>
        <p:grpSpPr>
          <a:xfrm flipH="1">
            <a:off x="33868" y="147894"/>
            <a:ext cx="433296" cy="659108"/>
            <a:chOff x="245533" y="117988"/>
            <a:chExt cx="508000" cy="772744"/>
          </a:xfrm>
        </p:grpSpPr>
        <p:sp>
          <p:nvSpPr>
            <p:cNvPr id="8" name="Diagonal Stripe 7">
              <a:extLst>
                <a:ext uri="{FF2B5EF4-FFF2-40B4-BE49-F238E27FC236}">
                  <a16:creationId xmlns:a16="http://schemas.microsoft.com/office/drawing/2014/main" id="{1FBEEF9B-0438-D9C2-BB51-E8F1ADB30267}"/>
                </a:ext>
              </a:extLst>
            </p:cNvPr>
            <p:cNvSpPr/>
            <p:nvPr userDrawn="1"/>
          </p:nvSpPr>
          <p:spPr>
            <a:xfrm>
              <a:off x="245533" y="117988"/>
              <a:ext cx="508000" cy="508000"/>
            </a:xfrm>
            <a:prstGeom prst="diagStrip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Diagonal Stripe 8">
              <a:extLst>
                <a:ext uri="{FF2B5EF4-FFF2-40B4-BE49-F238E27FC236}">
                  <a16:creationId xmlns:a16="http://schemas.microsoft.com/office/drawing/2014/main" id="{80C360D8-BD67-DC2F-D250-16E5B5E3712B}"/>
                </a:ext>
              </a:extLst>
            </p:cNvPr>
            <p:cNvSpPr/>
            <p:nvPr userDrawn="1"/>
          </p:nvSpPr>
          <p:spPr>
            <a:xfrm flipV="1">
              <a:off x="245533" y="382732"/>
              <a:ext cx="508000" cy="508000"/>
            </a:xfrm>
            <a:prstGeom prst="diagStrip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 dirty="0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5F7B6925-60D1-2746-B6CA-825C81BF5C6A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0000" y="90720"/>
            <a:ext cx="9360000" cy="333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 dirty="0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9565F8E0-0039-3E4C-B0BE-BAC2AFDC191B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315D92EC-06CA-9245-B481-D7360F8DD2FC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15592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D54E33EA-3B48-6D42-841B-EC4DA674207D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10E54133-949D-9F4A-ABBA-BD6560CCB80E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60000" y="34596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7861DDDD-0B04-014E-B801-DF824DEC5D2E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15592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0E36CD8F-B80B-B046-B5C4-9C50746C9E90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2476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916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6000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2476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916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</p:spPr>
        <p:txBody>
          <a:bodyPr/>
          <a:lstStyle/>
          <a:p>
            <a:fld id="{334A60D9-2115-3446-97BC-0EAE23D56D45}" type="datetime1">
              <a:rPr lang="en-ZA" smtClean="0"/>
              <a:t>2026/06/21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CB58-D42F-E8C1-DCC9-583BFA1DA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6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893081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 dirty="0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F4F645-C485-A5C8-7F41-D05BC971BB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682" y="4977501"/>
            <a:ext cx="4617318" cy="21560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377149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60000" y="90720"/>
            <a:ext cx="9360000" cy="333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592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360000" y="34596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592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2476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8916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36000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2476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8916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4889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9182635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0504342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336288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715905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60000" y="90720"/>
            <a:ext cx="9360000" cy="333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277605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0157576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592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774441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0854439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360000" y="3459600"/>
            <a:ext cx="936000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8798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36000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5920" y="345960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189117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GB" sz="4000" b="1" strike="noStrike" spc="-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2476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89160" y="14850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36000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2476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89160" y="3459600"/>
            <a:ext cx="301356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2400" b="1" strike="noStrike" spc="-1">
              <a:solidFill>
                <a:srgbClr val="2C3E50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10570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60000" y="90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4000" b="1" strike="noStrike" spc="-1" dirty="0">
                <a:solidFill>
                  <a:srgbClr val="FFFFFF"/>
                </a:solidFill>
                <a:latin typeface="Roboto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400" b="1" strike="noStrike" spc="-1" dirty="0">
                <a:solidFill>
                  <a:srgbClr val="2C3E50"/>
                </a:solidFill>
                <a:latin typeface="Noto Sans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GB" sz="2100" b="0" strike="noStrike" spc="-1" dirty="0">
                <a:solidFill>
                  <a:srgbClr val="2C3E50"/>
                </a:solidFill>
                <a:latin typeface="Noto Sans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 dirty="0">
                <a:solidFill>
                  <a:srgbClr val="2C3E50"/>
                </a:solidFill>
                <a:latin typeface="Noto Sans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GB" sz="1500" b="0" strike="noStrike" spc="-1" dirty="0">
                <a:solidFill>
                  <a:srgbClr val="2C3E50"/>
                </a:solidFill>
                <a:latin typeface="Noto Sans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500" b="0" strike="noStrike" spc="-1" dirty="0">
                <a:solidFill>
                  <a:srgbClr val="2C3E50"/>
                </a:solidFill>
                <a:latin typeface="Noto Sans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500" b="0" strike="noStrike" spc="-1" dirty="0">
                <a:solidFill>
                  <a:srgbClr val="2C3E50"/>
                </a:solidFill>
                <a:latin typeface="Noto Sans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500" b="0" strike="noStrike" spc="-1" dirty="0">
                <a:solidFill>
                  <a:srgbClr val="2C3E50"/>
                </a:solidFill>
                <a:latin typeface="Noto Sans"/>
              </a:rPr>
              <a:t>Seventh Outline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3616" y="5301000"/>
            <a:ext cx="360000" cy="405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fld id="{5E2AD59A-53CB-4C50-B56D-1D23CB342730}" type="slidenum">
              <a:rPr lang="en-GB" sz="1800" b="1" strike="noStrike" spc="-1">
                <a:solidFill>
                  <a:schemeClr val="tx1">
                    <a:lumMod val="50000"/>
                  </a:schemeClr>
                </a:solidFill>
                <a:latin typeface="Noto Sans"/>
              </a:rPr>
              <a:t>‹#›</a:t>
            </a:fld>
            <a:endParaRPr lang="en-GB" sz="1800" b="1" strike="noStrike" spc="-1" dirty="0">
              <a:solidFill>
                <a:schemeClr val="tx1">
                  <a:lumMod val="50000"/>
                </a:schemeClr>
              </a:solidFill>
              <a:latin typeface="Noto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15497-95B5-0B11-A778-BC6293A69888}"/>
              </a:ext>
            </a:extLst>
          </p:cNvPr>
          <p:cNvSpPr txBox="1"/>
          <p:nvPr userDrawn="1"/>
        </p:nvSpPr>
        <p:spPr>
          <a:xfrm>
            <a:off x="4317687" y="5365001"/>
            <a:ext cx="1444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Coleridge Faraday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59A5C-32BC-B855-C577-4DAAE1C6B7A6}"/>
              </a:ext>
            </a:extLst>
          </p:cNvPr>
          <p:cNvSpPr txBox="1"/>
          <p:nvPr userDrawn="1"/>
        </p:nvSpPr>
        <p:spPr>
          <a:xfrm>
            <a:off x="87977" y="5365001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frdcol002@myuct.ac.za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700" r:id="rId13"/>
    <p:sldLayoutId id="2147483701" r:id="rId14"/>
    <p:sldLayoutId id="2147483702" r:id="rId1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1796867"/>
            <a:ext cx="10080000" cy="3780000"/>
          </a:xfrm>
          <a:prstGeom prst="rect">
            <a:avLst/>
          </a:prstGeom>
          <a:solidFill>
            <a:srgbClr val="FFFFFF"/>
          </a:solidFill>
          <a:ln w="108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-718920"/>
            <a:ext cx="9360000" cy="215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GB" sz="5000" b="1" strike="noStrike" spc="-1" dirty="0">
                <a:solidFill>
                  <a:srgbClr val="FFFFFF"/>
                </a:solidFill>
                <a:latin typeface="Roboto Medium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3960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7000"/>
          </a:bodyPr>
          <a:lstStyle/>
          <a:p>
            <a:pPr marL="432000" indent="-324000">
              <a:spcAft>
                <a:spcPts val="655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</a:pPr>
            <a:r>
              <a:rPr lang="en-GB" sz="1500" b="0" strike="noStrike" spc="-1" dirty="0">
                <a:solidFill>
                  <a:srgbClr val="FFFFFF"/>
                </a:solidFill>
                <a:latin typeface="Noto San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4CD63A-D2B5-E146-1ED9-429ADC04A855}"/>
              </a:ext>
            </a:extLst>
          </p:cNvPr>
          <p:cNvSpPr txBox="1"/>
          <p:nvPr userDrawn="1"/>
        </p:nvSpPr>
        <p:spPr>
          <a:xfrm>
            <a:off x="9623616" y="5301000"/>
            <a:ext cx="360000" cy="405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fld id="{5E2AD59A-53CB-4C50-B56D-1D23CB342730}" type="slidenum">
              <a:rPr lang="en-GB" sz="1800" b="1" strike="noStrike" spc="-1">
                <a:solidFill>
                  <a:schemeClr val="tx1"/>
                </a:solidFill>
                <a:latin typeface="Noto Sans"/>
              </a:rPr>
              <a:t>‹#›</a:t>
            </a:fld>
            <a:endParaRPr lang="en-GB" sz="1800" b="1" strike="noStrike" spc="-1" dirty="0">
              <a:solidFill>
                <a:schemeClr val="tx1"/>
              </a:solidFill>
              <a:latin typeface="Noto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DF5F-4272-91D5-BF5F-EBCFB743B47C}"/>
              </a:ext>
            </a:extLst>
          </p:cNvPr>
          <p:cNvSpPr txBox="1"/>
          <p:nvPr userDrawn="1"/>
        </p:nvSpPr>
        <p:spPr>
          <a:xfrm>
            <a:off x="4317687" y="5365001"/>
            <a:ext cx="1444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Coleridge Faraday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02897-4705-E1DD-9A39-F68EDD157C83}"/>
              </a:ext>
            </a:extLst>
          </p:cNvPr>
          <p:cNvSpPr txBox="1"/>
          <p:nvPr userDrawn="1"/>
        </p:nvSpPr>
        <p:spPr>
          <a:xfrm>
            <a:off x="87977" y="5365001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frdcol002@myuct.ac.za</a:t>
            </a:r>
          </a:p>
        </p:txBody>
      </p:sp>
    </p:spTree>
    <p:extLst>
      <p:ext uri="{BB962C8B-B14F-4D97-AF65-F5344CB8AC3E}">
        <p14:creationId xmlns:p14="http://schemas.microsoft.com/office/powerpoint/2010/main" val="21536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-991964" y="79686"/>
            <a:ext cx="11497613" cy="158076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en-GB" sz="3800" b="1" spc="-1" dirty="0">
                <a:latin typeface="Roboto Medium"/>
              </a:rPr>
              <a:t>First exploration of hard-soft </a:t>
            </a:r>
          </a:p>
          <a:p>
            <a:pPr algn="ctr">
              <a:buNone/>
            </a:pPr>
            <a:r>
              <a:rPr lang="en-GB" sz="3800" b="1" spc="-1" dirty="0">
                <a:latin typeface="Roboto Medium"/>
              </a:rPr>
              <a:t>correlations from IP-</a:t>
            </a:r>
            <a:r>
              <a:rPr lang="en-GB" sz="3800" b="1" spc="-1" dirty="0" err="1">
                <a:latin typeface="Roboto Medium"/>
              </a:rPr>
              <a:t>Glasma</a:t>
            </a:r>
            <a:endParaRPr lang="en-GB" sz="3800" b="1" strike="noStrike" spc="-1" dirty="0">
              <a:latin typeface="Noto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44ECA-FAC7-4E03-10A4-0C69E1912D8E}"/>
              </a:ext>
            </a:extLst>
          </p:cNvPr>
          <p:cNvSpPr txBox="1"/>
          <p:nvPr/>
        </p:nvSpPr>
        <p:spPr>
          <a:xfrm>
            <a:off x="1290038" y="3128152"/>
            <a:ext cx="7418707" cy="1615832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r>
              <a:rPr lang="en-GB" sz="1200" b="0" strike="noStrike" spc="-1" dirty="0">
                <a:latin typeface="Noto Sans"/>
              </a:rPr>
              <a:t>Based on </a:t>
            </a:r>
            <a:r>
              <a:rPr lang="en-GB" sz="1200" b="1" strike="noStrike" spc="-1" dirty="0">
                <a:latin typeface="Noto Sans"/>
              </a:rPr>
              <a:t>CF</a:t>
            </a:r>
            <a:r>
              <a:rPr lang="en-GB" sz="1200" strike="noStrike" spc="-1" dirty="0">
                <a:latin typeface="Noto Sans"/>
              </a:rPr>
              <a:t>, W. A. Horowitz, B. Schenke arXiv:2606.xxxxx</a:t>
            </a:r>
            <a:endParaRPr lang="en-GB" sz="1200" b="1" strike="noStrike" spc="-1" dirty="0">
              <a:latin typeface="Noto San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568053-4595-BA62-A4B7-600E3B979072}"/>
              </a:ext>
            </a:extLst>
          </p:cNvPr>
          <p:cNvGrpSpPr/>
          <p:nvPr/>
        </p:nvGrpSpPr>
        <p:grpSpPr>
          <a:xfrm>
            <a:off x="2389608" y="2003840"/>
            <a:ext cx="5301408" cy="1421988"/>
            <a:chOff x="2520000" y="1793864"/>
            <a:chExt cx="5301408" cy="142198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9E3738-2FE8-3366-355C-6241918A1893}"/>
                </a:ext>
              </a:extLst>
            </p:cNvPr>
            <p:cNvSpPr txBox="1"/>
            <p:nvPr/>
          </p:nvSpPr>
          <p:spPr>
            <a:xfrm>
              <a:off x="2601408" y="1793864"/>
              <a:ext cx="5220000" cy="720000"/>
            </a:xfrm>
            <a:prstGeom prst="rect">
              <a:avLst/>
            </a:prstGeom>
            <a:noFill/>
            <a:ln w="1080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>
                <a:buNone/>
              </a:pPr>
              <a:r>
                <a:rPr lang="en-GB" sz="3200" strike="noStrike" spc="-1" dirty="0">
                  <a:latin typeface="Noto Sans"/>
                </a:rPr>
                <a:t>Coleridge Faraday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7B7EAD-17EE-5BB6-6186-6B030F830807}"/>
                </a:ext>
              </a:extLst>
            </p:cNvPr>
            <p:cNvSpPr txBox="1"/>
            <p:nvPr/>
          </p:nvSpPr>
          <p:spPr>
            <a:xfrm>
              <a:off x="2520000" y="2160572"/>
              <a:ext cx="5220000" cy="720000"/>
            </a:xfrm>
            <a:prstGeom prst="rect">
              <a:avLst/>
            </a:prstGeom>
            <a:noFill/>
            <a:ln w="1080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>
                <a:buNone/>
              </a:pPr>
              <a:r>
                <a:rPr lang="en-GB" sz="1400" b="0" strike="noStrike" spc="-1" dirty="0">
                  <a:latin typeface="Noto Sans"/>
                </a:rPr>
                <a:t>University of Cape Town, South Africa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D5CEF0-0D51-CC98-56B2-1D00BFB8D21F}"/>
                </a:ext>
              </a:extLst>
            </p:cNvPr>
            <p:cNvSpPr txBox="1"/>
            <p:nvPr/>
          </p:nvSpPr>
          <p:spPr>
            <a:xfrm>
              <a:off x="2540320" y="2495852"/>
              <a:ext cx="5220000" cy="720000"/>
            </a:xfrm>
            <a:prstGeom prst="rect">
              <a:avLst/>
            </a:prstGeom>
            <a:noFill/>
            <a:ln w="1080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>
                <a:buNone/>
              </a:pPr>
              <a:r>
                <a:rPr lang="en-GB" sz="1400" b="0" i="1" strike="noStrike" spc="-1" dirty="0">
                  <a:latin typeface="Noto Sans"/>
                </a:rPr>
                <a:t>23</a:t>
              </a:r>
              <a:r>
                <a:rPr lang="en-GB" sz="1400" b="0" i="1" strike="noStrike" spc="-1" baseline="30000" dirty="0">
                  <a:latin typeface="Noto Sans"/>
                </a:rPr>
                <a:t>rd</a:t>
              </a:r>
              <a:r>
                <a:rPr lang="en-GB" sz="1400" b="0" i="1" strike="noStrike" spc="-1" dirty="0">
                  <a:latin typeface="Noto Sans"/>
                </a:rPr>
                <a:t> June 2026, Hard Probes</a:t>
              </a:r>
            </a:p>
          </p:txBody>
        </p:sp>
      </p:grpSp>
      <p:sp>
        <p:nvSpPr>
          <p:cNvPr id="15" name="Half-frame 14">
            <a:extLst>
              <a:ext uri="{FF2B5EF4-FFF2-40B4-BE49-F238E27FC236}">
                <a16:creationId xmlns:a16="http://schemas.microsoft.com/office/drawing/2014/main" id="{DEA2EFEA-54CE-3AF3-05CF-03B316D6DCE3}"/>
              </a:ext>
            </a:extLst>
          </p:cNvPr>
          <p:cNvSpPr/>
          <p:nvPr/>
        </p:nvSpPr>
        <p:spPr>
          <a:xfrm>
            <a:off x="147870" y="156161"/>
            <a:ext cx="753533" cy="753533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Half-frame 21">
            <a:extLst>
              <a:ext uri="{FF2B5EF4-FFF2-40B4-BE49-F238E27FC236}">
                <a16:creationId xmlns:a16="http://schemas.microsoft.com/office/drawing/2014/main" id="{BE0311EB-76D9-25EB-2E03-CE511B820A33}"/>
              </a:ext>
            </a:extLst>
          </p:cNvPr>
          <p:cNvSpPr/>
          <p:nvPr/>
        </p:nvSpPr>
        <p:spPr>
          <a:xfrm flipH="1" flipV="1">
            <a:off x="9183684" y="980503"/>
            <a:ext cx="753533" cy="753533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73FC8E-3CDF-8D2A-6884-00A7BE1617F0}"/>
              </a:ext>
            </a:extLst>
          </p:cNvPr>
          <p:cNvGrpSpPr/>
          <p:nvPr/>
        </p:nvGrpSpPr>
        <p:grpSpPr>
          <a:xfrm>
            <a:off x="1119052" y="4308420"/>
            <a:ext cx="7842520" cy="1170228"/>
            <a:chOff x="461466" y="4420636"/>
            <a:chExt cx="7842520" cy="1170228"/>
          </a:xfrm>
        </p:grpSpPr>
        <p:pic>
          <p:nvPicPr>
            <p:cNvPr id="125" name="Picture 124"/>
            <p:cNvPicPr/>
            <p:nvPr/>
          </p:nvPicPr>
          <p:blipFill>
            <a:blip r:embed="rId3"/>
            <a:stretch/>
          </p:blipFill>
          <p:spPr>
            <a:xfrm>
              <a:off x="3404322" y="4611987"/>
              <a:ext cx="928579" cy="787527"/>
            </a:xfrm>
            <a:prstGeom prst="rect">
              <a:avLst/>
            </a:prstGeom>
            <a:ln w="10800">
              <a:noFill/>
            </a:ln>
          </p:spPr>
        </p:pic>
        <p:pic>
          <p:nvPicPr>
            <p:cNvPr id="126" name="Picture 125"/>
            <p:cNvPicPr/>
            <p:nvPr/>
          </p:nvPicPr>
          <p:blipFill>
            <a:blip r:embed="rId4"/>
            <a:stretch/>
          </p:blipFill>
          <p:spPr>
            <a:xfrm>
              <a:off x="2342163" y="4551743"/>
              <a:ext cx="894602" cy="908014"/>
            </a:xfrm>
            <a:prstGeom prst="rect">
              <a:avLst/>
            </a:prstGeom>
            <a:ln w="10800">
              <a:noFill/>
            </a:ln>
          </p:spPr>
        </p:pic>
        <p:pic>
          <p:nvPicPr>
            <p:cNvPr id="127" name="Picture 126"/>
            <p:cNvPicPr/>
            <p:nvPr/>
          </p:nvPicPr>
          <p:blipFill>
            <a:blip r:embed="rId5"/>
            <a:stretch/>
          </p:blipFill>
          <p:spPr>
            <a:xfrm>
              <a:off x="4500458" y="4633335"/>
              <a:ext cx="1880630" cy="744831"/>
            </a:xfrm>
            <a:prstGeom prst="rect">
              <a:avLst/>
            </a:prstGeom>
            <a:ln w="10800">
              <a:noFill/>
            </a:ln>
          </p:spPr>
        </p:pic>
        <p:pic>
          <p:nvPicPr>
            <p:cNvPr id="2" name="Picture 2" descr="NITheCS-logo">
              <a:extLst>
                <a:ext uri="{FF2B5EF4-FFF2-40B4-BE49-F238E27FC236}">
                  <a16:creationId xmlns:a16="http://schemas.microsoft.com/office/drawing/2014/main" id="{7F5370E3-4BFC-A735-2597-7ECC188FA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466" y="4621711"/>
              <a:ext cx="1713140" cy="76807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D6D544-07D4-ECB8-732D-07244D386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8644" y="4420636"/>
              <a:ext cx="1755342" cy="11702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82A31-2F12-A9D5-8CCE-73221520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>
            <a:extLst>
              <a:ext uri="{FF2B5EF4-FFF2-40B4-BE49-F238E27FC236}">
                <a16:creationId xmlns:a16="http://schemas.microsoft.com/office/drawing/2014/main" id="{D65854EF-4FC7-1EC7-79C3-BDAF86F8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600" y="137243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4300" strike="noStrike" spc="-1" dirty="0">
                <a:latin typeface="Roboto"/>
              </a:rPr>
              <a:t>Quark-gluon plasma in small systems?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E9E6A3-C12A-550C-B254-FE042A48D735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>
          <a:xfrm>
            <a:off x="726872" y="2525161"/>
            <a:ext cx="8460000" cy="2306160"/>
          </a:xfrm>
          <a:prstGeom prst="rect">
            <a:avLst/>
          </a:prstGeom>
          <a:ln w="10800">
            <a:noFill/>
          </a:ln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E135AA2-0587-DE5D-31ED-17B0669E3D37}"/>
              </a:ext>
            </a:extLst>
          </p:cNvPr>
          <p:cNvSpPr txBox="1">
            <a:spLocks/>
          </p:cNvSpPr>
          <p:nvPr/>
        </p:nvSpPr>
        <p:spPr>
          <a:xfrm>
            <a:off x="6580375" y="4865460"/>
            <a:ext cx="4617318" cy="62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Weller et al., PLB 774 (2017) 351-356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812A65-BE07-4B70-8D19-0EFB16479A68}"/>
              </a:ext>
            </a:extLst>
          </p:cNvPr>
          <p:cNvSpPr txBox="1"/>
          <p:nvPr/>
        </p:nvSpPr>
        <p:spPr>
          <a:xfrm>
            <a:off x="810000" y="1044330"/>
            <a:ext cx="845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High-multiplicity events in </a:t>
            </a:r>
            <a:r>
              <a:rPr lang="en-ZA" b="1" dirty="0"/>
              <a:t>all collision systems</a:t>
            </a:r>
            <a:r>
              <a:rPr lang="en-ZA" dirty="0"/>
              <a:t> show </a:t>
            </a:r>
            <a:r>
              <a:rPr lang="en-ZA" b="1" dirty="0"/>
              <a:t>collective phenomena </a:t>
            </a:r>
            <a:r>
              <a:rPr lang="en-ZA" dirty="0"/>
              <a:t>that hydrodynamics can describe qualitatively.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A761D-D3BA-4CCB-EF46-F3A492E70B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4B37C9-4F28-FE0E-A38E-1B3379F8DE66}"/>
                  </a:ext>
                </a:extLst>
              </p:cNvPr>
              <p:cNvSpPr txBox="1"/>
              <p:nvPr/>
            </p:nvSpPr>
            <p:spPr>
              <a:xfrm>
                <a:off x="6628593" y="2189030"/>
                <a:ext cx="2566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ZA" b="1" dirty="0" err="1"/>
                  <a:t>PbPb</a:t>
                </a:r>
                <a:r>
                  <a:rPr lang="en-ZA" b="1" dirty="0"/>
                  <a:t>,</a:t>
                </a:r>
                <a:r>
                  <a:rPr lang="en-ZA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𝒪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ZA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ZA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ZA" dirty="0"/>
                  <a:t> particles</a:t>
                </a:r>
                <a:endParaRPr lang="en-ZA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4B37C9-4F28-FE0E-A38E-1B3379F8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593" y="2189030"/>
                <a:ext cx="2566505" cy="369332"/>
              </a:xfrm>
              <a:prstGeom prst="rect">
                <a:avLst/>
              </a:prstGeom>
              <a:blipFill>
                <a:blip r:embed="rId4"/>
                <a:stretch>
                  <a:fillRect l="-985" t="-6667" r="-147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D5DA02-7725-AEB3-AB1E-227167A3DA15}"/>
                  </a:ext>
                </a:extLst>
              </p:cNvPr>
              <p:cNvSpPr txBox="1"/>
              <p:nvPr/>
            </p:nvSpPr>
            <p:spPr>
              <a:xfrm>
                <a:off x="1221336" y="2155829"/>
                <a:ext cx="2721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ZA" b="1" i="1" dirty="0"/>
                  <a:t>pp</a:t>
                </a:r>
                <a:r>
                  <a:rPr lang="en-ZA" i="1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en-ZA" dirty="0"/>
                  <a:t> particles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D5DA02-7725-AEB3-AB1E-227167A3D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36" y="2155829"/>
                <a:ext cx="2721843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FF6877-5CF1-31DD-F75A-0FDEDD348241}"/>
                  </a:ext>
                </a:extLst>
              </p:cNvPr>
              <p:cNvSpPr txBox="1"/>
              <p:nvPr/>
            </p:nvSpPr>
            <p:spPr>
              <a:xfrm>
                <a:off x="3850028" y="2157374"/>
                <a:ext cx="2566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ZA" b="1" i="1" dirty="0" err="1"/>
                  <a:t>p</a:t>
                </a:r>
                <a:r>
                  <a:rPr lang="en-ZA" b="1" dirty="0" err="1"/>
                  <a:t>Pb</a:t>
                </a:r>
                <a:r>
                  <a:rPr lang="en-ZA" i="1" dirty="0"/>
                  <a:t>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en-ZA" dirty="0"/>
                  <a:t> particles</a:t>
                </a:r>
                <a:endParaRPr lang="en-ZA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FF6877-5CF1-31DD-F75A-0FDEDD348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028" y="2157374"/>
                <a:ext cx="2566504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5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trike="noStrike" spc="-1" dirty="0">
                <a:solidFill>
                  <a:schemeClr val="tx1">
                    <a:lumMod val="50000"/>
                  </a:schemeClr>
                </a:solidFill>
                <a:latin typeface="Roboto"/>
              </a:rPr>
              <a:t>Hard probes </a:t>
            </a:r>
            <a:r>
              <a:rPr lang="en-GB" strike="noStrike" spc="-1" dirty="0">
                <a:solidFill>
                  <a:schemeClr val="tx1">
                    <a:lumMod val="50000"/>
                  </a:schemeClr>
                </a:solidFill>
                <a:latin typeface="Roboto"/>
              </a:rPr>
              <a:t>in small systems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/>
              <p:cNvSpPr txBox="1"/>
              <p:nvPr/>
            </p:nvSpPr>
            <p:spPr>
              <a:xfrm>
                <a:off x="3273082" y="3795178"/>
                <a:ext cx="3780000" cy="1308960"/>
              </a:xfrm>
              <a:prstGeom prst="rect">
                <a:avLst/>
              </a:prstGeom>
              <a:noFill/>
              <a:ln w="10800">
                <a:noFill/>
              </a:ln>
            </p:spPr>
            <p:txBody>
              <a:bodyPr lIns="90000" tIns="45000" rIns="90000" bIns="45000" anchor="ctr">
                <a:noAutofit/>
              </a:bodyPr>
              <a:lstStyle/>
              <a:p>
                <a:pPr algn="ctr">
                  <a:buNone/>
                </a:pPr>
                <a:r>
                  <a:rPr lang="en-GB" sz="2200" b="1" strike="noStrike" spc="-1" dirty="0">
                    <a:solidFill>
                      <a:schemeClr val="tx1">
                        <a:lumMod val="50000"/>
                      </a:schemeClr>
                    </a:solidFill>
                    <a:latin typeface="Noto Sans"/>
                  </a:rPr>
                  <a:t>Small system suppression pattern is not clear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200" b="0" i="1" strike="noStrike" spc="-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200" b="0" strike="noStrike" spc="-1" dirty="0">
                    <a:solidFill>
                      <a:schemeClr val="tx1">
                        <a:lumMod val="50000"/>
                      </a:schemeClr>
                    </a:solidFill>
                    <a:latin typeface="Noto Sans"/>
                  </a:rPr>
                  <a:t> Theory input needed</a:t>
                </a:r>
              </a:p>
            </p:txBody>
          </p:sp>
        </mc:Choice>
        <mc:Fallback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082" y="3795178"/>
                <a:ext cx="3780000" cy="1308960"/>
              </a:xfrm>
              <a:prstGeom prst="rect">
                <a:avLst/>
              </a:prstGeom>
              <a:blipFill>
                <a:blip r:embed="rId3"/>
                <a:stretch>
                  <a:fillRect l="-1672" r="-3679" b="-2913"/>
                </a:stretch>
              </a:blipFill>
              <a:ln w="108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/>
          <p:cNvSpPr txBox="1"/>
          <p:nvPr/>
        </p:nvSpPr>
        <p:spPr>
          <a:xfrm>
            <a:off x="-5741535" y="-781920"/>
            <a:ext cx="2340000" cy="78192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en-GB" spc="-1" dirty="0">
                <a:solidFill>
                  <a:srgbClr val="2C3E50"/>
                </a:solidFill>
                <a:latin typeface="Noto Sans"/>
              </a:rPr>
              <a:t>No energy loss?</a:t>
            </a:r>
            <a:endParaRPr lang="en-GB" sz="1800" b="0" strike="noStrike" spc="-1" dirty="0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721070" y="3600000"/>
            <a:ext cx="3600000" cy="71244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endParaRPr lang="en-GB" sz="1800" b="0" strike="noStrike" spc="-1" dirty="0">
              <a:solidFill>
                <a:srgbClr val="2C3E50"/>
              </a:solidFill>
              <a:latin typeface="Noto Sans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6943493" y="4418348"/>
            <a:ext cx="3155153" cy="885123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GB" sz="1200" b="0" i="1" strike="noStrike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PHENIX</a:t>
            </a:r>
            <a:r>
              <a:rPr lang="en-GB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, Phys. Rev. Lett.</a:t>
            </a:r>
            <a:r>
              <a:rPr lang="en-GB" sz="1200" b="1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 134</a:t>
            </a:r>
            <a:r>
              <a:rPr lang="en-GB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, 022302 (2025).</a:t>
            </a:r>
          </a:p>
          <a:p>
            <a:r>
              <a:rPr lang="en-GB" sz="1200" b="1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CF</a:t>
            </a:r>
            <a:r>
              <a:rPr lang="en-GB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 and W. A. Horowitz, JHEP 11, 019 (2025).</a:t>
            </a:r>
          </a:p>
          <a:p>
            <a:r>
              <a:rPr lang="en-GB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ATLAS, JHEP 07 (2023) </a:t>
            </a:r>
            <a:r>
              <a:rPr lang="en-GB" sz="1200" b="1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074</a:t>
            </a:r>
            <a:endParaRPr lang="en-GB" sz="1200" b="1" spc="-1" dirty="0">
              <a:solidFill>
                <a:schemeClr val="accent4">
                  <a:lumMod val="50000"/>
                </a:schemeClr>
              </a:solidFill>
              <a:latin typeface="Noto Sans"/>
            </a:endParaRPr>
          </a:p>
          <a:p>
            <a:r>
              <a:rPr lang="en-ZA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CMS Phys. Rev. Lett. </a:t>
            </a:r>
            <a:r>
              <a:rPr lang="en-ZA" sz="1200" b="1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135</a:t>
            </a:r>
            <a:r>
              <a:rPr lang="en-ZA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, 071903 (2025)</a:t>
            </a:r>
          </a:p>
          <a:p>
            <a:r>
              <a:rPr lang="en-ZA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CMS Phys. Rev. Lett. </a:t>
            </a:r>
            <a:r>
              <a:rPr lang="en-ZA" sz="1200" b="1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131</a:t>
            </a:r>
            <a:r>
              <a:rPr lang="en-ZA" sz="1200" i="1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, 072301 (2023)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2386CA-9172-B6F0-6D26-6EC2C43F957A}"/>
              </a:ext>
            </a:extLst>
          </p:cNvPr>
          <p:cNvGrpSpPr/>
          <p:nvPr/>
        </p:nvGrpSpPr>
        <p:grpSpPr>
          <a:xfrm>
            <a:off x="146669" y="3110419"/>
            <a:ext cx="3028254" cy="2560131"/>
            <a:chOff x="146669" y="3110419"/>
            <a:chExt cx="3028254" cy="25601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9C04F9-CA3C-B1DA-CF61-235DF20B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1762" r="46922" b="33291"/>
            <a:stretch>
              <a:fillRect/>
            </a:stretch>
          </p:blipFill>
          <p:spPr>
            <a:xfrm>
              <a:off x="146669" y="3110419"/>
              <a:ext cx="2692838" cy="2560131"/>
            </a:xfrm>
            <a:prstGeom prst="rect">
              <a:avLst/>
            </a:prstGeom>
          </p:spPr>
        </p:pic>
        <p:sp>
          <p:nvSpPr>
            <p:cNvPr id="7" name="Pentagon 6">
              <a:extLst>
                <a:ext uri="{FF2B5EF4-FFF2-40B4-BE49-F238E27FC236}">
                  <a16:creationId xmlns:a16="http://schemas.microsoft.com/office/drawing/2014/main" id="{0A988A91-1B0B-77BA-3200-53EF1436FF76}"/>
                </a:ext>
              </a:extLst>
            </p:cNvPr>
            <p:cNvSpPr/>
            <p:nvPr/>
          </p:nvSpPr>
          <p:spPr>
            <a:xfrm rot="683276">
              <a:off x="1145504" y="3114477"/>
              <a:ext cx="2029419" cy="390960"/>
            </a:xfrm>
            <a:prstGeom prst="homePlat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energy loss?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E84923-4955-591A-E7CF-F1194F1C3851}"/>
              </a:ext>
            </a:extLst>
          </p:cNvPr>
          <p:cNvGrpSpPr/>
          <p:nvPr/>
        </p:nvGrpSpPr>
        <p:grpSpPr>
          <a:xfrm>
            <a:off x="67686" y="920362"/>
            <a:ext cx="3106390" cy="2172769"/>
            <a:chOff x="67686" y="920362"/>
            <a:chExt cx="3106390" cy="2172769"/>
          </a:xfrm>
        </p:grpSpPr>
        <p:pic>
          <p:nvPicPr>
            <p:cNvPr id="161" name="Picture 160"/>
            <p:cNvPicPr/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/>
          </p:blipFill>
          <p:spPr>
            <a:xfrm>
              <a:off x="67686" y="920362"/>
              <a:ext cx="2812939" cy="2172769"/>
            </a:xfrm>
            <a:prstGeom prst="rect">
              <a:avLst/>
            </a:prstGeom>
            <a:ln w="10800">
              <a:noFill/>
            </a:ln>
          </p:spPr>
        </p:pic>
        <p:sp>
          <p:nvSpPr>
            <p:cNvPr id="8" name="Pentagon 7">
              <a:extLst>
                <a:ext uri="{FF2B5EF4-FFF2-40B4-BE49-F238E27FC236}">
                  <a16:creationId xmlns:a16="http://schemas.microsoft.com/office/drawing/2014/main" id="{BC113B69-C3BC-62AC-EECA-6FFF61A4BDC4}"/>
                </a:ext>
              </a:extLst>
            </p:cNvPr>
            <p:cNvSpPr/>
            <p:nvPr/>
          </p:nvSpPr>
          <p:spPr>
            <a:xfrm rot="683276">
              <a:off x="1144657" y="991283"/>
              <a:ext cx="2029419" cy="390960"/>
            </a:xfrm>
            <a:prstGeom prst="homePlat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energy loss?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F879E5-AE37-E73B-0824-C9086B5417A9}"/>
              </a:ext>
            </a:extLst>
          </p:cNvPr>
          <p:cNvGrpSpPr/>
          <p:nvPr/>
        </p:nvGrpSpPr>
        <p:grpSpPr>
          <a:xfrm>
            <a:off x="3010893" y="826331"/>
            <a:ext cx="4082771" cy="2826890"/>
            <a:chOff x="3010893" y="826331"/>
            <a:chExt cx="4082771" cy="28268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21FAFF-55CB-90C7-96AA-681DB8496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10893" y="826331"/>
              <a:ext cx="3660362" cy="2826890"/>
            </a:xfrm>
            <a:prstGeom prst="rect">
              <a:avLst/>
            </a:prstGeom>
          </p:spPr>
        </p:pic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4A9B9804-8140-1BA3-C621-A9E0D6BF7707}"/>
                </a:ext>
              </a:extLst>
            </p:cNvPr>
            <p:cNvSpPr/>
            <p:nvPr/>
          </p:nvSpPr>
          <p:spPr>
            <a:xfrm rot="635455">
              <a:off x="5415176" y="960560"/>
              <a:ext cx="1678488" cy="390960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Energy loss?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30B92B-E5AA-42A8-D1F6-87EAB68AFE44}"/>
              </a:ext>
            </a:extLst>
          </p:cNvPr>
          <p:cNvGrpSpPr/>
          <p:nvPr/>
        </p:nvGrpSpPr>
        <p:grpSpPr>
          <a:xfrm>
            <a:off x="6568633" y="1428048"/>
            <a:ext cx="3490361" cy="2817359"/>
            <a:chOff x="6568633" y="1428048"/>
            <a:chExt cx="3490361" cy="281735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094125-B2A5-D0C5-0C40-5BC02F7EB1FC}"/>
                </a:ext>
              </a:extLst>
            </p:cNvPr>
            <p:cNvGrpSpPr/>
            <p:nvPr/>
          </p:nvGrpSpPr>
          <p:grpSpPr>
            <a:xfrm>
              <a:off x="6762188" y="1428048"/>
              <a:ext cx="3296806" cy="2817359"/>
              <a:chOff x="6762188" y="1428048"/>
              <a:chExt cx="3296806" cy="281735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F11B122-4D97-BE75-AFF0-80941FCDD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762188" y="1623528"/>
                <a:ext cx="3057618" cy="2621879"/>
              </a:xfrm>
              <a:prstGeom prst="rect">
                <a:avLst/>
              </a:prstGeom>
            </p:spPr>
          </p:pic>
          <p:sp>
            <p:nvSpPr>
              <p:cNvPr id="6" name="Pentagon 5">
                <a:extLst>
                  <a:ext uri="{FF2B5EF4-FFF2-40B4-BE49-F238E27FC236}">
                    <a16:creationId xmlns:a16="http://schemas.microsoft.com/office/drawing/2014/main" id="{A609C599-0F5E-9A3E-7EBE-2B5A44E82C3E}"/>
                  </a:ext>
                </a:extLst>
              </p:cNvPr>
              <p:cNvSpPr/>
              <p:nvPr/>
            </p:nvSpPr>
            <p:spPr>
              <a:xfrm rot="635455">
                <a:off x="8380506" y="1428048"/>
                <a:ext cx="1678488" cy="390960"/>
              </a:xfrm>
              <a:prstGeom prst="homePlat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Energy loss?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3852FF4-0601-8936-ED32-3D7F0FBF71B6}"/>
                    </a:ext>
                  </a:extLst>
                </p:cNvPr>
                <p:cNvSpPr txBox="1"/>
                <p:nvPr/>
              </p:nvSpPr>
              <p:spPr>
                <a:xfrm>
                  <a:off x="6568633" y="1793658"/>
                  <a:ext cx="2692400" cy="4012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Au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bSup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Au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bSup>
                      </m:oMath>
                    </m:oMathPara>
                  </a14:m>
                  <a:endParaRPr lang="en-US" b="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3852FF4-0601-8936-ED32-3D7F0FBF7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8633" y="1793658"/>
                  <a:ext cx="2692400" cy="401264"/>
                </a:xfrm>
                <a:prstGeom prst="rect">
                  <a:avLst/>
                </a:prstGeom>
                <a:blipFill>
                  <a:blip r:embed="rId8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231AA2-83A6-56A8-ABA1-CF664546EA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3888" y="5363330"/>
            <a:ext cx="4795356" cy="220109"/>
          </a:xfrm>
        </p:spPr>
        <p:txBody>
          <a:bodyPr>
            <a:normAutofit/>
          </a:bodyPr>
          <a:lstStyle/>
          <a:p>
            <a:r>
              <a:rPr lang="en-ZA" dirty="0"/>
              <a:t>ALICE, Phys. Rev. C </a:t>
            </a:r>
            <a:r>
              <a:rPr lang="en-ZA" b="1" dirty="0"/>
              <a:t>91</a:t>
            </a:r>
            <a:r>
              <a:rPr lang="en-ZA" dirty="0"/>
              <a:t>, 064905 (2015).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6341A0-C747-C4F7-3815-9B883519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441" y="446233"/>
            <a:ext cx="9360000" cy="718920"/>
          </a:xfrm>
        </p:spPr>
        <p:txBody>
          <a:bodyPr/>
          <a:lstStyle/>
          <a:p>
            <a:r>
              <a:rPr lang="en-US" dirty="0"/>
              <a:t>Why are centrality-selected </a:t>
            </a:r>
            <a:br>
              <a:rPr lang="en-US" dirty="0"/>
            </a:br>
            <a:r>
              <a:rPr lang="en-US" dirty="0"/>
              <a:t>hard probes difficult?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79BE9-EDEB-B5E7-142B-83F4D428FB5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1005" r="13901" b="12222"/>
          <a:stretch>
            <a:fillRect/>
          </a:stretch>
        </p:blipFill>
        <p:spPr>
          <a:xfrm>
            <a:off x="5620375" y="802467"/>
            <a:ext cx="4460250" cy="44695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D4907144-28DB-477F-CF43-3D2952137F8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7469" y="1745900"/>
                <a:ext cx="4795356" cy="327839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</a:t>
                </a:r>
                <a:r>
                  <a:rPr lang="en-US" i="1" dirty="0" err="1"/>
                  <a:t>p</a:t>
                </a:r>
                <a:r>
                  <a:rPr lang="en-US" dirty="0" err="1"/>
                  <a:t>Pb</a:t>
                </a:r>
                <a:r>
                  <a:rPr lang="en-US" dirty="0"/>
                  <a:t>, proton is responsible for </a:t>
                </a:r>
                <a:r>
                  <a:rPr lang="en-US" i="1" dirty="0"/>
                  <a:t>all</a:t>
                </a:r>
                <a:r>
                  <a:rPr lang="en-US" dirty="0"/>
                  <a:t> hard and soft particle production → hard-soft correlations</a:t>
                </a:r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𝑝𝐴</m:t>
                        </m:r>
                      </m:sub>
                    </m:sSub>
                  </m:oMath>
                </a14:m>
                <a:r>
                  <a:rPr lang="en-US" b="0" dirty="0"/>
                  <a:t> very sensitive to centrality definition!</a:t>
                </a:r>
                <a:endParaRPr lang="en-US" dirty="0"/>
              </a:p>
              <a:p>
                <a:r>
                  <a:rPr lang="en-US" b="0" dirty="0"/>
                  <a:t>However, since most QGP signatures are </a:t>
                </a:r>
                <a:r>
                  <a:rPr lang="en-US" dirty="0"/>
                  <a:t>at high multiplicity, centrality selection is </a:t>
                </a:r>
                <a:r>
                  <a:rPr lang="en-US" i="1" dirty="0"/>
                  <a:t>mandatory</a:t>
                </a:r>
                <a:r>
                  <a:rPr lang="en-US" dirty="0"/>
                  <a:t> for any observable energy loss</a:t>
                </a:r>
                <a:endParaRPr lang="en-US" b="0" dirty="0"/>
              </a:p>
              <a:p>
                <a:r>
                  <a:rPr lang="en-US" dirty="0"/>
                  <a:t>Therefore, we are forced to confront hard-soft correlations</a:t>
                </a:r>
                <a:endParaRPr lang="en-US" b="0" dirty="0"/>
              </a:p>
            </p:txBody>
          </p:sp>
        </mc:Choice>
        <mc:Fallback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D4907144-28DB-477F-CF43-3D2952137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7469" y="1745900"/>
                <a:ext cx="4795356" cy="3278396"/>
              </a:xfrm>
              <a:blipFill>
                <a:blip r:embed="rId4"/>
                <a:stretch>
                  <a:fillRect l="-2902" t="-3089" r="-2902" b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00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630E3B-59CC-4C58-F689-41A8FE249C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800" y="5168420"/>
            <a:ext cx="4617318" cy="215601"/>
          </a:xfrm>
        </p:spPr>
        <p:txBody>
          <a:bodyPr/>
          <a:lstStyle/>
          <a:p>
            <a:r>
              <a:rPr lang="en-GB" b="1" spc="-1" dirty="0">
                <a:latin typeface="Noto Sans"/>
              </a:rPr>
              <a:t>CF</a:t>
            </a:r>
            <a:r>
              <a:rPr lang="en-GB" spc="-1" dirty="0">
                <a:latin typeface="Noto Sans"/>
              </a:rPr>
              <a:t>, W. A. Horowitz, B. Schenke arXiv:2606.xxxxx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504DA1-E717-6049-CFD9-CF5A233DE09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80638" y="2629478"/>
                <a:ext cx="4768086" cy="36845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the IP-</a:t>
                </a:r>
                <a:r>
                  <a:rPr lang="en-US" dirty="0" err="1"/>
                  <a:t>Glasma</a:t>
                </a:r>
                <a:r>
                  <a:rPr lang="en-US" dirty="0"/>
                  <a:t> framework to model </a:t>
                </a:r>
                <a:r>
                  <a:rPr lang="en-US" i="1" dirty="0"/>
                  <a:t>both</a:t>
                </a:r>
                <a:r>
                  <a:rPr lang="en-US" dirty="0"/>
                  <a:t> soft and semi-hard particles</a:t>
                </a:r>
              </a:p>
              <a:p>
                <a:pPr lvl="1"/>
                <a:r>
                  <a:rPr lang="en-US" sz="2000" dirty="0"/>
                  <a:t>Naturally includes hard-soft correlations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relevant for energy loss: 5-20 GeV → </a:t>
                </a:r>
                <a:r>
                  <a:rPr lang="en-US" dirty="0" err="1"/>
                  <a:t>Bjorken</a:t>
                </a:r>
                <a:r>
                  <a:rPr lang="en-US" dirty="0"/>
                  <a:t> x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0.001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504DA1-E717-6049-CFD9-CF5A233DE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80638" y="2629478"/>
                <a:ext cx="4768086" cy="3684587"/>
              </a:xfrm>
              <a:blipFill>
                <a:blip r:embed="rId2"/>
                <a:stretch>
                  <a:fillRect l="-2918" r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B10A8812-D39E-3B71-D959-EB4464B9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Tackling hard-soft correlations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10C8B4-D1B2-CFE4-AA32-D934F4D674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11" t="6502" r="2855"/>
          <a:stretch>
            <a:fillRect/>
          </a:stretch>
        </p:blipFill>
        <p:spPr>
          <a:xfrm>
            <a:off x="5524648" y="2228470"/>
            <a:ext cx="4107015" cy="2535095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01EFB15-0DB8-77B6-CAE0-F37924E5C77B}"/>
              </a:ext>
            </a:extLst>
          </p:cNvPr>
          <p:cNvSpPr txBox="1">
            <a:spLocks/>
          </p:cNvSpPr>
          <p:nvPr/>
        </p:nvSpPr>
        <p:spPr>
          <a:xfrm>
            <a:off x="6450259" y="4981086"/>
            <a:ext cx="3452566" cy="24167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 spc="-1" dirty="0">
                <a:latin typeface="Noto Sans"/>
              </a:rPr>
              <a:t>Figure from </a:t>
            </a:r>
            <a:r>
              <a:rPr lang="en-ZA" sz="1050" dirty="0"/>
              <a:t>B. Schenke, P. </a:t>
            </a:r>
            <a:r>
              <a:rPr lang="en-ZA" sz="1050" dirty="0" err="1"/>
              <a:t>Tribedy</a:t>
            </a:r>
            <a:r>
              <a:rPr lang="en-ZA" sz="1050" dirty="0"/>
              <a:t>, and R. Venugopalan, PRL </a:t>
            </a:r>
            <a:r>
              <a:rPr lang="en-ZA" sz="1050" b="1" dirty="0"/>
              <a:t>108</a:t>
            </a:r>
            <a:r>
              <a:rPr lang="en-ZA" sz="1050" dirty="0"/>
              <a:t>, 252301 (2012).</a:t>
            </a:r>
          </a:p>
          <a:p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F627C-74FE-D004-ACD6-5A8A699DED9F}"/>
              </a:ext>
            </a:extLst>
          </p:cNvPr>
          <p:cNvSpPr txBox="1"/>
          <p:nvPr/>
        </p:nvSpPr>
        <p:spPr>
          <a:xfrm>
            <a:off x="505231" y="2167813"/>
            <a:ext cx="4887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BD42F-332C-C9F9-3AE4-6E847498E95F}"/>
              </a:ext>
            </a:extLst>
          </p:cNvPr>
          <p:cNvSpPr txBox="1"/>
          <p:nvPr/>
        </p:nvSpPr>
        <p:spPr>
          <a:xfrm>
            <a:off x="937893" y="1108503"/>
            <a:ext cx="820483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IP-</a:t>
            </a:r>
            <a:r>
              <a:rPr lang="en-US" sz="2000" dirty="0" err="1"/>
              <a:t>Glasma</a:t>
            </a:r>
            <a:r>
              <a:rPr lang="en-US" sz="2000" dirty="0"/>
              <a:t> is built on the color glass condensate (CGC), valid at small </a:t>
            </a:r>
            <a:r>
              <a:rPr lang="en-US" sz="2000" dirty="0" err="1"/>
              <a:t>Bjorken</a:t>
            </a:r>
            <a:r>
              <a:rPr lang="en-US" sz="2000" dirty="0"/>
              <a:t> </a:t>
            </a:r>
            <a:r>
              <a:rPr lang="en-US" sz="2000" i="1" dirty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Solves classical Yang-Mills equations event-by-event, including geometric, </a:t>
            </a:r>
            <a:r>
              <a:rPr lang="en-US" sz="2000" dirty="0" err="1"/>
              <a:t>subnucleonic</a:t>
            </a:r>
            <a:r>
              <a:rPr lang="en-US" sz="2000" dirty="0"/>
              <a:t> color-charge, and saturation-scale fluctuations</a:t>
            </a:r>
          </a:p>
        </p:txBody>
      </p:sp>
    </p:spTree>
    <p:extLst>
      <p:ext uri="{BB962C8B-B14F-4D97-AF65-F5344CB8AC3E}">
        <p14:creationId xmlns:p14="http://schemas.microsoft.com/office/powerpoint/2010/main" val="326761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E122BA-782F-C254-DC6C-745FF6BA2A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78413" y="4984021"/>
            <a:ext cx="5255287" cy="1373057"/>
          </a:xfrm>
        </p:spPr>
        <p:txBody>
          <a:bodyPr>
            <a:normAutofit/>
          </a:bodyPr>
          <a:lstStyle/>
          <a:p>
            <a:r>
              <a:rPr lang="en-ZA" sz="900" dirty="0"/>
              <a:t>B. Schenke, C. Shen, and P. </a:t>
            </a:r>
            <a:r>
              <a:rPr lang="en-ZA" sz="900" dirty="0" err="1"/>
              <a:t>Tribedy</a:t>
            </a:r>
            <a:r>
              <a:rPr lang="en-ZA" sz="900" dirty="0"/>
              <a:t>, Phys. Rev. C </a:t>
            </a:r>
            <a:r>
              <a:rPr lang="en-ZA" sz="900" b="1" dirty="0"/>
              <a:t>102</a:t>
            </a:r>
            <a:r>
              <a:rPr lang="en-ZA" sz="900" dirty="0"/>
              <a:t>, 044905 (2020).</a:t>
            </a:r>
          </a:p>
          <a:p>
            <a:endParaRPr lang="en-US" sz="9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41DB69-4535-B817-D14F-750DF1E0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IP-</a:t>
            </a:r>
            <a:r>
              <a:rPr lang="en-US" dirty="0" err="1"/>
              <a:t>Glasma</a:t>
            </a:r>
            <a:r>
              <a:rPr lang="en-US" dirty="0"/>
              <a:t> as an initial-state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CECC7-C0C4-4EA7-4807-94522551B1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169" y="2326472"/>
            <a:ext cx="4030699" cy="30666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865A4-2578-EC9B-469B-C69E159F241D}"/>
              </a:ext>
            </a:extLst>
          </p:cNvPr>
          <p:cNvSpPr txBox="1"/>
          <p:nvPr/>
        </p:nvSpPr>
        <p:spPr>
          <a:xfrm>
            <a:off x="4195187" y="3964511"/>
            <a:ext cx="5039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hydrodynamics, provides good description of soft observables (not yet included in this 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ABEB3-B779-3493-0050-A249D99D45B9}"/>
              </a:ext>
            </a:extLst>
          </p:cNvPr>
          <p:cNvSpPr txBox="1"/>
          <p:nvPr/>
        </p:nvSpPr>
        <p:spPr>
          <a:xfrm>
            <a:off x="300170" y="1089247"/>
            <a:ext cx="503924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parameters are sampled from a prior Bayesian posterior on HERA data                 </a:t>
            </a:r>
            <a:r>
              <a:rPr lang="en-US" sz="1100" dirty="0"/>
              <a:t>[</a:t>
            </a:r>
            <a:r>
              <a:rPr lang="en-ZA" sz="1100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H. </a:t>
            </a:r>
            <a:r>
              <a:rPr lang="en-ZA" sz="1100" spc="-1" dirty="0" err="1">
                <a:solidFill>
                  <a:schemeClr val="accent4">
                    <a:lumMod val="50000"/>
                  </a:schemeClr>
                </a:solidFill>
                <a:latin typeface="Noto Sans"/>
              </a:rPr>
              <a:t>Mäntysaari</a:t>
            </a:r>
            <a:r>
              <a:rPr lang="en-ZA" sz="1100" spc="-1" dirty="0">
                <a:solidFill>
                  <a:schemeClr val="accent4">
                    <a:lumMod val="50000"/>
                  </a:schemeClr>
                </a:solidFill>
                <a:latin typeface="Noto Sans"/>
              </a:rPr>
              <a:t>, B. Schenke, C. Shen, and W. Zhao, Phys. Lett. B 833, 137348 (2022).</a:t>
            </a:r>
            <a:r>
              <a:rPr lang="en-ZA" sz="1100" spc="-1" dirty="0">
                <a:solidFill>
                  <a:srgbClr val="000000"/>
                </a:solidFill>
                <a:latin typeface="Noto Sans"/>
              </a:rPr>
              <a:t>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24471B-614E-5219-C6B6-5676E4C4E8F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241" b="2884"/>
          <a:stretch>
            <a:fillRect/>
          </a:stretch>
        </p:blipFill>
        <p:spPr>
          <a:xfrm>
            <a:off x="5208790" y="818503"/>
            <a:ext cx="3794534" cy="275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6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D10AE-D9CD-836E-7E72-F7527E5F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 distributions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CC2067-9214-2CEC-ED58-CF02DBF4A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394" y="990770"/>
            <a:ext cx="3377836" cy="4336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0A8BAA-A2C1-4962-378F-BC4EA9BCC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1" y="990770"/>
            <a:ext cx="3377836" cy="43361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7754A2-828B-ACC4-3826-573DE285F207}"/>
                  </a:ext>
                </a:extLst>
              </p:cNvPr>
              <p:cNvSpPr txBox="1"/>
              <p:nvPr/>
            </p:nvSpPr>
            <p:spPr>
              <a:xfrm>
                <a:off x="2057622" y="1724972"/>
                <a:ext cx="1113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Pb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7754A2-828B-ACC4-3826-573DE285F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622" y="1724972"/>
                <a:ext cx="1113861" cy="369332"/>
              </a:xfrm>
              <a:prstGeom prst="rect">
                <a:avLst/>
              </a:prstGeom>
              <a:blipFill>
                <a:blip r:embed="rId5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F9DAED-7A39-9AD3-9918-69D76212B47A}"/>
                  </a:ext>
                </a:extLst>
              </p:cNvPr>
              <p:cNvSpPr txBox="1"/>
              <p:nvPr/>
            </p:nvSpPr>
            <p:spPr>
              <a:xfrm>
                <a:off x="5123471" y="1800038"/>
                <a:ext cx="1425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Pb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F9DAED-7A39-9AD3-9918-69D76212B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471" y="1800038"/>
                <a:ext cx="1425848" cy="369332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7A86C87-47F5-F120-F936-507B9AB07506}"/>
              </a:ext>
            </a:extLst>
          </p:cNvPr>
          <p:cNvSpPr txBox="1"/>
          <p:nvPr/>
        </p:nvSpPr>
        <p:spPr>
          <a:xfrm>
            <a:off x="6644439" y="1612770"/>
            <a:ext cx="3351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Multiplicity distributions are largely unchanged by the (missing) hydro evolution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Excellent agreement with multiplicity distributions from 0.1 – 100% centrality</a:t>
            </a:r>
          </a:p>
          <a:p>
            <a:pPr lvl="1"/>
            <a:r>
              <a:rPr lang="en-ZA" dirty="0"/>
              <a:t>→ centrality classification is reliable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00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7DA823B-B70F-0219-A095-F88B9C7253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Minimum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7DA823B-B70F-0219-A095-F88B9C7253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659" t="-29825"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874BC13-3B96-8A90-CE06-E5046292F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58" y="1253508"/>
            <a:ext cx="4675842" cy="352631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34DF220-D03E-CF76-72DA-FB046B091F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spc="-1" dirty="0">
                <a:latin typeface="Noto Sans"/>
              </a:rPr>
              <a:t>CF</a:t>
            </a:r>
            <a:r>
              <a:rPr lang="en-GB" spc="-1" dirty="0">
                <a:latin typeface="Noto Sans"/>
              </a:rPr>
              <a:t>, W. A. Horowitz, B. Schenke arXiv:2606.xxxxx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6ED631-8427-1AD0-BE59-564A9E8A0DB0}"/>
                  </a:ext>
                </a:extLst>
              </p:cNvPr>
              <p:cNvSpPr txBox="1"/>
              <p:nvPr/>
            </p:nvSpPr>
            <p:spPr>
              <a:xfrm>
                <a:off x="5164956" y="3129240"/>
                <a:ext cx="4862825" cy="2824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Good agreement with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1.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Large theoretical uncertainties since parameters are only constrained by HERA data</a:t>
                </a:r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Qualitatively reproduces the transition between participant and binary scaling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NB: binary and participant scaling are fully emergent in IP-</a:t>
                </a:r>
                <a:r>
                  <a:rPr lang="en-US" dirty="0" err="1"/>
                  <a:t>Glasma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6ED631-8427-1AD0-BE59-564A9E8A0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56" y="3129240"/>
                <a:ext cx="4862825" cy="2824428"/>
              </a:xfrm>
              <a:prstGeom prst="rect">
                <a:avLst/>
              </a:prstGeom>
              <a:blipFill>
                <a:blip r:embed="rId5"/>
                <a:stretch>
                  <a:fillRect l="-1042" t="-1345" r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 descr="28§display§R_{AA}\left(p_T\right)=\frac{1}{\left\langle N_{\text {coll }}\right\rangle} \frac{d N_{AA} / d p_T}{d N_{p p} / d p_T}§svg§600§FALSE§" title="TexMaths">
            <a:extLst>
              <a:ext uri="{FF2B5EF4-FFF2-40B4-BE49-F238E27FC236}">
                <a16:creationId xmlns:a16="http://schemas.microsoft.com/office/drawing/2014/main" id="{83518581-3AB9-04DC-FDDE-0F6A67BCA91A}"/>
              </a:ext>
            </a:extLst>
          </p:cNvPr>
          <p:cNvGrpSpPr/>
          <p:nvPr/>
        </p:nvGrpSpPr>
        <p:grpSpPr>
          <a:xfrm>
            <a:off x="5408289" y="1481195"/>
            <a:ext cx="4112640" cy="786600"/>
            <a:chOff x="5154480" y="1555920"/>
            <a:chExt cx="4112640" cy="78660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4C03565-53F7-C0DA-334D-5EE84E92F634}"/>
                </a:ext>
              </a:extLst>
            </p:cNvPr>
            <p:cNvSpPr/>
            <p:nvPr/>
          </p:nvSpPr>
          <p:spPr>
            <a:xfrm>
              <a:off x="5157720" y="1572840"/>
              <a:ext cx="4093560" cy="753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372" h="2093">
                  <a:moveTo>
                    <a:pt x="0" y="0"/>
                  </a:moveTo>
                  <a:cubicBezTo>
                    <a:pt x="3791" y="0"/>
                    <a:pt x="7581" y="0"/>
                    <a:pt x="11372" y="0"/>
                  </a:cubicBezTo>
                  <a:cubicBezTo>
                    <a:pt x="11372" y="698"/>
                    <a:pt x="11372" y="1395"/>
                    <a:pt x="11372" y="2093"/>
                  </a:cubicBezTo>
                  <a:cubicBezTo>
                    <a:pt x="7581" y="2093"/>
                    <a:pt x="3791" y="2093"/>
                    <a:pt x="0" y="2093"/>
                  </a:cubicBezTo>
                  <a:cubicBezTo>
                    <a:pt x="0" y="1395"/>
                    <a:pt x="0" y="69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7121CB-5868-CDB2-ED8F-28D4D59F2A10}"/>
                </a:ext>
              </a:extLst>
            </p:cNvPr>
            <p:cNvSpPr/>
            <p:nvPr/>
          </p:nvSpPr>
          <p:spPr>
            <a:xfrm>
              <a:off x="5154480" y="1800000"/>
              <a:ext cx="216000" cy="23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1" h="644">
                  <a:moveTo>
                    <a:pt x="283" y="62"/>
                  </a:moveTo>
                  <a:cubicBezTo>
                    <a:pt x="287" y="42"/>
                    <a:pt x="290" y="31"/>
                    <a:pt x="306" y="29"/>
                  </a:cubicBezTo>
                  <a:cubicBezTo>
                    <a:pt x="314" y="29"/>
                    <a:pt x="340" y="29"/>
                    <a:pt x="357" y="29"/>
                  </a:cubicBezTo>
                  <a:cubicBezTo>
                    <a:pt x="417" y="29"/>
                    <a:pt x="510" y="29"/>
                    <a:pt x="510" y="119"/>
                  </a:cubicBezTo>
                  <a:cubicBezTo>
                    <a:pt x="510" y="151"/>
                    <a:pt x="496" y="213"/>
                    <a:pt x="464" y="249"/>
                  </a:cubicBezTo>
                  <a:cubicBezTo>
                    <a:pt x="443" y="273"/>
                    <a:pt x="397" y="301"/>
                    <a:pt x="321" y="301"/>
                  </a:cubicBezTo>
                  <a:cubicBezTo>
                    <a:pt x="290" y="301"/>
                    <a:pt x="259" y="301"/>
                    <a:pt x="227" y="301"/>
                  </a:cubicBezTo>
                  <a:cubicBezTo>
                    <a:pt x="246" y="222"/>
                    <a:pt x="264" y="142"/>
                    <a:pt x="283" y="62"/>
                  </a:cubicBezTo>
                  <a:close/>
                  <a:moveTo>
                    <a:pt x="402" y="312"/>
                  </a:moveTo>
                  <a:cubicBezTo>
                    <a:pt x="488" y="293"/>
                    <a:pt x="589" y="229"/>
                    <a:pt x="589" y="138"/>
                  </a:cubicBezTo>
                  <a:cubicBezTo>
                    <a:pt x="589" y="60"/>
                    <a:pt x="512" y="0"/>
                    <a:pt x="402" y="0"/>
                  </a:cubicBezTo>
                  <a:cubicBezTo>
                    <a:pt x="322" y="0"/>
                    <a:pt x="243" y="0"/>
                    <a:pt x="163" y="0"/>
                  </a:cubicBezTo>
                  <a:cubicBezTo>
                    <a:pt x="146" y="0"/>
                    <a:pt x="139" y="0"/>
                    <a:pt x="139" y="18"/>
                  </a:cubicBezTo>
                  <a:cubicBezTo>
                    <a:pt x="139" y="29"/>
                    <a:pt x="146" y="29"/>
                    <a:pt x="163" y="29"/>
                  </a:cubicBezTo>
                  <a:cubicBezTo>
                    <a:pt x="173" y="29"/>
                    <a:pt x="180" y="29"/>
                    <a:pt x="194" y="31"/>
                  </a:cubicBezTo>
                  <a:cubicBezTo>
                    <a:pt x="208" y="31"/>
                    <a:pt x="215" y="34"/>
                    <a:pt x="215" y="44"/>
                  </a:cubicBezTo>
                  <a:cubicBezTo>
                    <a:pt x="215" y="49"/>
                    <a:pt x="215" y="52"/>
                    <a:pt x="213" y="62"/>
                  </a:cubicBezTo>
                  <a:cubicBezTo>
                    <a:pt x="176" y="225"/>
                    <a:pt x="138" y="388"/>
                    <a:pt x="101" y="551"/>
                  </a:cubicBezTo>
                  <a:cubicBezTo>
                    <a:pt x="91" y="587"/>
                    <a:pt x="91" y="595"/>
                    <a:pt x="24" y="595"/>
                  </a:cubicBezTo>
                  <a:cubicBezTo>
                    <a:pt x="10" y="595"/>
                    <a:pt x="0" y="595"/>
                    <a:pt x="0" y="613"/>
                  </a:cubicBezTo>
                  <a:cubicBezTo>
                    <a:pt x="0" y="623"/>
                    <a:pt x="8" y="620"/>
                    <a:pt x="12" y="623"/>
                  </a:cubicBezTo>
                  <a:cubicBezTo>
                    <a:pt x="36" y="623"/>
                    <a:pt x="97" y="621"/>
                    <a:pt x="120" y="621"/>
                  </a:cubicBezTo>
                  <a:cubicBezTo>
                    <a:pt x="142" y="621"/>
                    <a:pt x="201" y="623"/>
                    <a:pt x="225" y="623"/>
                  </a:cubicBezTo>
                  <a:cubicBezTo>
                    <a:pt x="232" y="623"/>
                    <a:pt x="242" y="623"/>
                    <a:pt x="242" y="605"/>
                  </a:cubicBezTo>
                  <a:cubicBezTo>
                    <a:pt x="242" y="595"/>
                    <a:pt x="235" y="595"/>
                    <a:pt x="218" y="595"/>
                  </a:cubicBezTo>
                  <a:cubicBezTo>
                    <a:pt x="187" y="595"/>
                    <a:pt x="165" y="595"/>
                    <a:pt x="165" y="579"/>
                  </a:cubicBezTo>
                  <a:cubicBezTo>
                    <a:pt x="165" y="574"/>
                    <a:pt x="165" y="569"/>
                    <a:pt x="168" y="564"/>
                  </a:cubicBezTo>
                  <a:cubicBezTo>
                    <a:pt x="186" y="483"/>
                    <a:pt x="204" y="403"/>
                    <a:pt x="223" y="322"/>
                  </a:cubicBezTo>
                  <a:cubicBezTo>
                    <a:pt x="256" y="322"/>
                    <a:pt x="290" y="322"/>
                    <a:pt x="323" y="322"/>
                  </a:cubicBezTo>
                  <a:cubicBezTo>
                    <a:pt x="400" y="322"/>
                    <a:pt x="414" y="371"/>
                    <a:pt x="414" y="405"/>
                  </a:cubicBezTo>
                  <a:cubicBezTo>
                    <a:pt x="414" y="418"/>
                    <a:pt x="407" y="447"/>
                    <a:pt x="402" y="467"/>
                  </a:cubicBezTo>
                  <a:cubicBezTo>
                    <a:pt x="397" y="493"/>
                    <a:pt x="388" y="527"/>
                    <a:pt x="388" y="545"/>
                  </a:cubicBezTo>
                  <a:cubicBezTo>
                    <a:pt x="388" y="644"/>
                    <a:pt x="491" y="644"/>
                    <a:pt x="500" y="644"/>
                  </a:cubicBezTo>
                  <a:cubicBezTo>
                    <a:pt x="572" y="644"/>
                    <a:pt x="601" y="551"/>
                    <a:pt x="601" y="538"/>
                  </a:cubicBezTo>
                  <a:cubicBezTo>
                    <a:pt x="601" y="527"/>
                    <a:pt x="595" y="531"/>
                    <a:pt x="591" y="527"/>
                  </a:cubicBezTo>
                  <a:cubicBezTo>
                    <a:pt x="584" y="527"/>
                    <a:pt x="582" y="532"/>
                    <a:pt x="582" y="540"/>
                  </a:cubicBezTo>
                  <a:cubicBezTo>
                    <a:pt x="560" y="608"/>
                    <a:pt x="524" y="623"/>
                    <a:pt x="505" y="623"/>
                  </a:cubicBezTo>
                  <a:cubicBezTo>
                    <a:pt x="476" y="623"/>
                    <a:pt x="469" y="602"/>
                    <a:pt x="469" y="566"/>
                  </a:cubicBezTo>
                  <a:cubicBezTo>
                    <a:pt x="469" y="540"/>
                    <a:pt x="476" y="493"/>
                    <a:pt x="479" y="462"/>
                  </a:cubicBezTo>
                  <a:cubicBezTo>
                    <a:pt x="481" y="449"/>
                    <a:pt x="481" y="434"/>
                    <a:pt x="481" y="421"/>
                  </a:cubicBezTo>
                  <a:cubicBezTo>
                    <a:pt x="481" y="351"/>
                    <a:pt x="426" y="322"/>
                    <a:pt x="402" y="312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2A24CC3-AB44-CDD1-2718-2EAC69D55301}"/>
                </a:ext>
              </a:extLst>
            </p:cNvPr>
            <p:cNvSpPr/>
            <p:nvPr/>
          </p:nvSpPr>
          <p:spPr>
            <a:xfrm>
              <a:off x="5384520" y="1909440"/>
              <a:ext cx="15912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3" h="454">
                  <a:moveTo>
                    <a:pt x="86" y="379"/>
                  </a:moveTo>
                  <a:cubicBezTo>
                    <a:pt x="67" y="413"/>
                    <a:pt x="48" y="431"/>
                    <a:pt x="12" y="434"/>
                  </a:cubicBezTo>
                  <a:cubicBezTo>
                    <a:pt x="7" y="434"/>
                    <a:pt x="0" y="434"/>
                    <a:pt x="0" y="447"/>
                  </a:cubicBezTo>
                  <a:cubicBezTo>
                    <a:pt x="0" y="454"/>
                    <a:pt x="5" y="454"/>
                    <a:pt x="7" y="454"/>
                  </a:cubicBezTo>
                  <a:cubicBezTo>
                    <a:pt x="24" y="454"/>
                    <a:pt x="43" y="454"/>
                    <a:pt x="57" y="454"/>
                  </a:cubicBezTo>
                  <a:cubicBezTo>
                    <a:pt x="77" y="454"/>
                    <a:pt x="101" y="454"/>
                    <a:pt x="120" y="454"/>
                  </a:cubicBezTo>
                  <a:cubicBezTo>
                    <a:pt x="122" y="454"/>
                    <a:pt x="132" y="454"/>
                    <a:pt x="132" y="441"/>
                  </a:cubicBezTo>
                  <a:cubicBezTo>
                    <a:pt x="132" y="434"/>
                    <a:pt x="122" y="434"/>
                    <a:pt x="120" y="434"/>
                  </a:cubicBezTo>
                  <a:cubicBezTo>
                    <a:pt x="117" y="431"/>
                    <a:pt x="96" y="431"/>
                    <a:pt x="96" y="413"/>
                  </a:cubicBezTo>
                  <a:cubicBezTo>
                    <a:pt x="96" y="405"/>
                    <a:pt x="101" y="395"/>
                    <a:pt x="103" y="390"/>
                  </a:cubicBezTo>
                  <a:cubicBezTo>
                    <a:pt x="119" y="363"/>
                    <a:pt x="135" y="336"/>
                    <a:pt x="151" y="309"/>
                  </a:cubicBezTo>
                  <a:cubicBezTo>
                    <a:pt x="207" y="309"/>
                    <a:pt x="263" y="309"/>
                    <a:pt x="318" y="309"/>
                  </a:cubicBezTo>
                  <a:cubicBezTo>
                    <a:pt x="323" y="345"/>
                    <a:pt x="328" y="380"/>
                    <a:pt x="333" y="415"/>
                  </a:cubicBezTo>
                  <a:cubicBezTo>
                    <a:pt x="330" y="423"/>
                    <a:pt x="328" y="434"/>
                    <a:pt x="292" y="434"/>
                  </a:cubicBezTo>
                  <a:cubicBezTo>
                    <a:pt x="285" y="434"/>
                    <a:pt x="278" y="434"/>
                    <a:pt x="278" y="447"/>
                  </a:cubicBezTo>
                  <a:cubicBezTo>
                    <a:pt x="278" y="449"/>
                    <a:pt x="280" y="454"/>
                    <a:pt x="287" y="454"/>
                  </a:cubicBezTo>
                  <a:cubicBezTo>
                    <a:pt x="304" y="454"/>
                    <a:pt x="345" y="454"/>
                    <a:pt x="364" y="454"/>
                  </a:cubicBezTo>
                  <a:cubicBezTo>
                    <a:pt x="373" y="454"/>
                    <a:pt x="388" y="454"/>
                    <a:pt x="397" y="454"/>
                  </a:cubicBezTo>
                  <a:cubicBezTo>
                    <a:pt x="409" y="454"/>
                    <a:pt x="421" y="454"/>
                    <a:pt x="431" y="454"/>
                  </a:cubicBezTo>
                  <a:cubicBezTo>
                    <a:pt x="438" y="454"/>
                    <a:pt x="443" y="452"/>
                    <a:pt x="443" y="441"/>
                  </a:cubicBezTo>
                  <a:cubicBezTo>
                    <a:pt x="443" y="434"/>
                    <a:pt x="436" y="434"/>
                    <a:pt x="426" y="434"/>
                  </a:cubicBezTo>
                  <a:cubicBezTo>
                    <a:pt x="393" y="434"/>
                    <a:pt x="390" y="428"/>
                    <a:pt x="390" y="413"/>
                  </a:cubicBezTo>
                  <a:cubicBezTo>
                    <a:pt x="373" y="281"/>
                    <a:pt x="355" y="150"/>
                    <a:pt x="338" y="18"/>
                  </a:cubicBezTo>
                  <a:cubicBezTo>
                    <a:pt x="335" y="5"/>
                    <a:pt x="335" y="0"/>
                    <a:pt x="323" y="0"/>
                  </a:cubicBezTo>
                  <a:cubicBezTo>
                    <a:pt x="311" y="0"/>
                    <a:pt x="309" y="5"/>
                    <a:pt x="304" y="16"/>
                  </a:cubicBezTo>
                  <a:cubicBezTo>
                    <a:pt x="231" y="137"/>
                    <a:pt x="159" y="258"/>
                    <a:pt x="86" y="379"/>
                  </a:cubicBezTo>
                  <a:close/>
                  <a:moveTo>
                    <a:pt x="165" y="288"/>
                  </a:moveTo>
                  <a:cubicBezTo>
                    <a:pt x="207" y="218"/>
                    <a:pt x="248" y="148"/>
                    <a:pt x="290" y="78"/>
                  </a:cubicBezTo>
                  <a:cubicBezTo>
                    <a:pt x="298" y="148"/>
                    <a:pt x="307" y="218"/>
                    <a:pt x="316" y="288"/>
                  </a:cubicBezTo>
                  <a:cubicBezTo>
                    <a:pt x="266" y="288"/>
                    <a:pt x="215" y="288"/>
                    <a:pt x="165" y="288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FFBFEBC-8DA5-C8AC-891A-EDD72CA4A966}"/>
                </a:ext>
              </a:extLst>
            </p:cNvPr>
            <p:cNvSpPr/>
            <p:nvPr/>
          </p:nvSpPr>
          <p:spPr>
            <a:xfrm>
              <a:off x="5566320" y="1909440"/>
              <a:ext cx="15912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3" h="454">
                  <a:moveTo>
                    <a:pt x="89" y="379"/>
                  </a:moveTo>
                  <a:cubicBezTo>
                    <a:pt x="67" y="413"/>
                    <a:pt x="48" y="431"/>
                    <a:pt x="14" y="434"/>
                  </a:cubicBezTo>
                  <a:cubicBezTo>
                    <a:pt x="7" y="434"/>
                    <a:pt x="0" y="434"/>
                    <a:pt x="0" y="447"/>
                  </a:cubicBezTo>
                  <a:cubicBezTo>
                    <a:pt x="0" y="454"/>
                    <a:pt x="5" y="454"/>
                    <a:pt x="10" y="454"/>
                  </a:cubicBezTo>
                  <a:cubicBezTo>
                    <a:pt x="24" y="454"/>
                    <a:pt x="43" y="454"/>
                    <a:pt x="60" y="454"/>
                  </a:cubicBezTo>
                  <a:cubicBezTo>
                    <a:pt x="79" y="454"/>
                    <a:pt x="103" y="454"/>
                    <a:pt x="120" y="454"/>
                  </a:cubicBezTo>
                  <a:cubicBezTo>
                    <a:pt x="122" y="454"/>
                    <a:pt x="132" y="454"/>
                    <a:pt x="132" y="441"/>
                  </a:cubicBezTo>
                  <a:cubicBezTo>
                    <a:pt x="132" y="434"/>
                    <a:pt x="124" y="434"/>
                    <a:pt x="122" y="434"/>
                  </a:cubicBezTo>
                  <a:cubicBezTo>
                    <a:pt x="117" y="431"/>
                    <a:pt x="96" y="431"/>
                    <a:pt x="96" y="413"/>
                  </a:cubicBezTo>
                  <a:cubicBezTo>
                    <a:pt x="96" y="405"/>
                    <a:pt x="101" y="395"/>
                    <a:pt x="105" y="390"/>
                  </a:cubicBezTo>
                  <a:cubicBezTo>
                    <a:pt x="121" y="363"/>
                    <a:pt x="136" y="336"/>
                    <a:pt x="151" y="309"/>
                  </a:cubicBezTo>
                  <a:cubicBezTo>
                    <a:pt x="207" y="309"/>
                    <a:pt x="264" y="309"/>
                    <a:pt x="321" y="309"/>
                  </a:cubicBezTo>
                  <a:cubicBezTo>
                    <a:pt x="326" y="345"/>
                    <a:pt x="330" y="380"/>
                    <a:pt x="335" y="415"/>
                  </a:cubicBezTo>
                  <a:cubicBezTo>
                    <a:pt x="333" y="423"/>
                    <a:pt x="328" y="434"/>
                    <a:pt x="294" y="434"/>
                  </a:cubicBezTo>
                  <a:cubicBezTo>
                    <a:pt x="287" y="434"/>
                    <a:pt x="278" y="434"/>
                    <a:pt x="278" y="447"/>
                  </a:cubicBezTo>
                  <a:cubicBezTo>
                    <a:pt x="278" y="449"/>
                    <a:pt x="280" y="454"/>
                    <a:pt x="287" y="454"/>
                  </a:cubicBezTo>
                  <a:cubicBezTo>
                    <a:pt x="304" y="454"/>
                    <a:pt x="347" y="454"/>
                    <a:pt x="364" y="454"/>
                  </a:cubicBezTo>
                  <a:cubicBezTo>
                    <a:pt x="373" y="454"/>
                    <a:pt x="388" y="454"/>
                    <a:pt x="397" y="454"/>
                  </a:cubicBezTo>
                  <a:cubicBezTo>
                    <a:pt x="409" y="454"/>
                    <a:pt x="421" y="454"/>
                    <a:pt x="431" y="454"/>
                  </a:cubicBezTo>
                  <a:cubicBezTo>
                    <a:pt x="441" y="454"/>
                    <a:pt x="443" y="452"/>
                    <a:pt x="443" y="441"/>
                  </a:cubicBezTo>
                  <a:cubicBezTo>
                    <a:pt x="443" y="434"/>
                    <a:pt x="436" y="434"/>
                    <a:pt x="426" y="434"/>
                  </a:cubicBezTo>
                  <a:cubicBezTo>
                    <a:pt x="393" y="434"/>
                    <a:pt x="393" y="428"/>
                    <a:pt x="390" y="413"/>
                  </a:cubicBezTo>
                  <a:cubicBezTo>
                    <a:pt x="373" y="281"/>
                    <a:pt x="355" y="150"/>
                    <a:pt x="338" y="18"/>
                  </a:cubicBezTo>
                  <a:cubicBezTo>
                    <a:pt x="338" y="5"/>
                    <a:pt x="334" y="0"/>
                    <a:pt x="323" y="0"/>
                  </a:cubicBezTo>
                  <a:cubicBezTo>
                    <a:pt x="312" y="0"/>
                    <a:pt x="309" y="5"/>
                    <a:pt x="304" y="16"/>
                  </a:cubicBezTo>
                  <a:cubicBezTo>
                    <a:pt x="232" y="137"/>
                    <a:pt x="160" y="258"/>
                    <a:pt x="89" y="379"/>
                  </a:cubicBezTo>
                  <a:close/>
                  <a:moveTo>
                    <a:pt x="165" y="288"/>
                  </a:moveTo>
                  <a:cubicBezTo>
                    <a:pt x="207" y="218"/>
                    <a:pt x="248" y="148"/>
                    <a:pt x="290" y="78"/>
                  </a:cubicBezTo>
                  <a:cubicBezTo>
                    <a:pt x="298" y="148"/>
                    <a:pt x="307" y="218"/>
                    <a:pt x="316" y="288"/>
                  </a:cubicBezTo>
                  <a:cubicBezTo>
                    <a:pt x="266" y="288"/>
                    <a:pt x="215" y="288"/>
                    <a:pt x="165" y="288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B22CB2B-26CD-DF12-9C1D-BB08A9FF49C8}"/>
                </a:ext>
              </a:extLst>
            </p:cNvPr>
            <p:cNvSpPr/>
            <p:nvPr/>
          </p:nvSpPr>
          <p:spPr>
            <a:xfrm>
              <a:off x="5832000" y="1778400"/>
              <a:ext cx="70200" cy="327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6" h="911">
                  <a:moveTo>
                    <a:pt x="196" y="901"/>
                  </a:moveTo>
                  <a:cubicBezTo>
                    <a:pt x="196" y="898"/>
                    <a:pt x="196" y="896"/>
                    <a:pt x="182" y="880"/>
                  </a:cubicBezTo>
                  <a:cubicBezTo>
                    <a:pt x="77" y="766"/>
                    <a:pt x="50" y="595"/>
                    <a:pt x="50" y="454"/>
                  </a:cubicBezTo>
                  <a:cubicBezTo>
                    <a:pt x="50" y="296"/>
                    <a:pt x="81" y="138"/>
                    <a:pt x="184" y="23"/>
                  </a:cubicBezTo>
                  <a:cubicBezTo>
                    <a:pt x="196" y="13"/>
                    <a:pt x="196" y="10"/>
                    <a:pt x="196" y="8"/>
                  </a:cubicBezTo>
                  <a:cubicBezTo>
                    <a:pt x="196" y="3"/>
                    <a:pt x="192" y="0"/>
                    <a:pt x="187" y="0"/>
                  </a:cubicBezTo>
                  <a:cubicBezTo>
                    <a:pt x="180" y="0"/>
                    <a:pt x="103" y="60"/>
                    <a:pt x="53" y="177"/>
                  </a:cubicBezTo>
                  <a:cubicBezTo>
                    <a:pt x="12" y="278"/>
                    <a:pt x="0" y="379"/>
                    <a:pt x="0" y="454"/>
                  </a:cubicBezTo>
                  <a:cubicBezTo>
                    <a:pt x="0" y="525"/>
                    <a:pt x="10" y="636"/>
                    <a:pt x="57" y="740"/>
                  </a:cubicBezTo>
                  <a:cubicBezTo>
                    <a:pt x="108" y="852"/>
                    <a:pt x="180" y="911"/>
                    <a:pt x="187" y="911"/>
                  </a:cubicBezTo>
                  <a:cubicBezTo>
                    <a:pt x="192" y="911"/>
                    <a:pt x="196" y="909"/>
                    <a:pt x="196" y="901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67EAC13-BF38-E0C3-1108-BD2014EA7758}"/>
                </a:ext>
              </a:extLst>
            </p:cNvPr>
            <p:cNvSpPr/>
            <p:nvPr/>
          </p:nvSpPr>
          <p:spPr>
            <a:xfrm>
              <a:off x="5910120" y="1879200"/>
              <a:ext cx="157320" cy="2080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8" h="579">
                  <a:moveTo>
                    <a:pt x="65" y="514"/>
                  </a:moveTo>
                  <a:cubicBezTo>
                    <a:pt x="57" y="545"/>
                    <a:pt x="55" y="551"/>
                    <a:pt x="19" y="551"/>
                  </a:cubicBezTo>
                  <a:cubicBezTo>
                    <a:pt x="10" y="551"/>
                    <a:pt x="0" y="551"/>
                    <a:pt x="0" y="569"/>
                  </a:cubicBezTo>
                  <a:cubicBezTo>
                    <a:pt x="0" y="576"/>
                    <a:pt x="5" y="579"/>
                    <a:pt x="12" y="579"/>
                  </a:cubicBezTo>
                  <a:cubicBezTo>
                    <a:pt x="34" y="579"/>
                    <a:pt x="57" y="576"/>
                    <a:pt x="81" y="576"/>
                  </a:cubicBezTo>
                  <a:cubicBezTo>
                    <a:pt x="110" y="576"/>
                    <a:pt x="139" y="579"/>
                    <a:pt x="165" y="579"/>
                  </a:cubicBezTo>
                  <a:cubicBezTo>
                    <a:pt x="170" y="579"/>
                    <a:pt x="180" y="579"/>
                    <a:pt x="180" y="561"/>
                  </a:cubicBezTo>
                  <a:cubicBezTo>
                    <a:pt x="180" y="551"/>
                    <a:pt x="172" y="551"/>
                    <a:pt x="160" y="551"/>
                  </a:cubicBezTo>
                  <a:cubicBezTo>
                    <a:pt x="117" y="551"/>
                    <a:pt x="117" y="545"/>
                    <a:pt x="117" y="535"/>
                  </a:cubicBezTo>
                  <a:cubicBezTo>
                    <a:pt x="117" y="525"/>
                    <a:pt x="153" y="377"/>
                    <a:pt x="158" y="353"/>
                  </a:cubicBezTo>
                  <a:cubicBezTo>
                    <a:pt x="170" y="379"/>
                    <a:pt x="194" y="413"/>
                    <a:pt x="237" y="413"/>
                  </a:cubicBezTo>
                  <a:cubicBezTo>
                    <a:pt x="333" y="413"/>
                    <a:pt x="438" y="278"/>
                    <a:pt x="438" y="145"/>
                  </a:cubicBezTo>
                  <a:cubicBezTo>
                    <a:pt x="438" y="60"/>
                    <a:pt x="390" y="0"/>
                    <a:pt x="328" y="0"/>
                  </a:cubicBezTo>
                  <a:cubicBezTo>
                    <a:pt x="285" y="0"/>
                    <a:pt x="244" y="31"/>
                    <a:pt x="218" y="68"/>
                  </a:cubicBezTo>
                  <a:cubicBezTo>
                    <a:pt x="208" y="18"/>
                    <a:pt x="172" y="0"/>
                    <a:pt x="141" y="0"/>
                  </a:cubicBezTo>
                  <a:cubicBezTo>
                    <a:pt x="103" y="0"/>
                    <a:pt x="86" y="34"/>
                    <a:pt x="79" y="52"/>
                  </a:cubicBezTo>
                  <a:cubicBezTo>
                    <a:pt x="65" y="83"/>
                    <a:pt x="53" y="138"/>
                    <a:pt x="53" y="140"/>
                  </a:cubicBezTo>
                  <a:cubicBezTo>
                    <a:pt x="53" y="148"/>
                    <a:pt x="59" y="145"/>
                    <a:pt x="62" y="148"/>
                  </a:cubicBezTo>
                  <a:cubicBezTo>
                    <a:pt x="72" y="148"/>
                    <a:pt x="72" y="148"/>
                    <a:pt x="77" y="127"/>
                  </a:cubicBezTo>
                  <a:cubicBezTo>
                    <a:pt x="91" y="62"/>
                    <a:pt x="108" y="18"/>
                    <a:pt x="139" y="18"/>
                  </a:cubicBezTo>
                  <a:cubicBezTo>
                    <a:pt x="153" y="18"/>
                    <a:pt x="165" y="26"/>
                    <a:pt x="165" y="62"/>
                  </a:cubicBezTo>
                  <a:cubicBezTo>
                    <a:pt x="165" y="83"/>
                    <a:pt x="163" y="91"/>
                    <a:pt x="158" y="106"/>
                  </a:cubicBezTo>
                  <a:cubicBezTo>
                    <a:pt x="127" y="242"/>
                    <a:pt x="96" y="378"/>
                    <a:pt x="65" y="514"/>
                  </a:cubicBezTo>
                  <a:close/>
                  <a:moveTo>
                    <a:pt x="213" y="117"/>
                  </a:moveTo>
                  <a:cubicBezTo>
                    <a:pt x="218" y="93"/>
                    <a:pt x="242" y="68"/>
                    <a:pt x="256" y="55"/>
                  </a:cubicBezTo>
                  <a:cubicBezTo>
                    <a:pt x="285" y="26"/>
                    <a:pt x="311" y="18"/>
                    <a:pt x="326" y="18"/>
                  </a:cubicBezTo>
                  <a:cubicBezTo>
                    <a:pt x="359" y="18"/>
                    <a:pt x="378" y="52"/>
                    <a:pt x="378" y="104"/>
                  </a:cubicBezTo>
                  <a:cubicBezTo>
                    <a:pt x="378" y="158"/>
                    <a:pt x="350" y="262"/>
                    <a:pt x="335" y="299"/>
                  </a:cubicBezTo>
                  <a:cubicBezTo>
                    <a:pt x="306" y="361"/>
                    <a:pt x="266" y="392"/>
                    <a:pt x="235" y="392"/>
                  </a:cubicBezTo>
                  <a:cubicBezTo>
                    <a:pt x="180" y="392"/>
                    <a:pt x="170" y="317"/>
                    <a:pt x="170" y="312"/>
                  </a:cubicBezTo>
                  <a:cubicBezTo>
                    <a:pt x="170" y="309"/>
                    <a:pt x="170" y="306"/>
                    <a:pt x="172" y="296"/>
                  </a:cubicBezTo>
                  <a:cubicBezTo>
                    <a:pt x="186" y="236"/>
                    <a:pt x="200" y="177"/>
                    <a:pt x="213" y="117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5768621-4335-F280-5D23-C84D8B7449B0}"/>
                </a:ext>
              </a:extLst>
            </p:cNvPr>
            <p:cNvSpPr/>
            <p:nvPr/>
          </p:nvSpPr>
          <p:spPr>
            <a:xfrm>
              <a:off x="6081839" y="1917720"/>
              <a:ext cx="157320" cy="154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8" h="431">
                  <a:moveTo>
                    <a:pt x="261" y="47"/>
                  </a:moveTo>
                  <a:cubicBezTo>
                    <a:pt x="263" y="29"/>
                    <a:pt x="266" y="26"/>
                    <a:pt x="278" y="23"/>
                  </a:cubicBezTo>
                  <a:cubicBezTo>
                    <a:pt x="280" y="23"/>
                    <a:pt x="302" y="23"/>
                    <a:pt x="314" y="23"/>
                  </a:cubicBezTo>
                  <a:cubicBezTo>
                    <a:pt x="350" y="23"/>
                    <a:pt x="364" y="23"/>
                    <a:pt x="378" y="29"/>
                  </a:cubicBezTo>
                  <a:cubicBezTo>
                    <a:pt x="407" y="39"/>
                    <a:pt x="407" y="57"/>
                    <a:pt x="407" y="81"/>
                  </a:cubicBezTo>
                  <a:cubicBezTo>
                    <a:pt x="407" y="91"/>
                    <a:pt x="407" y="99"/>
                    <a:pt x="402" y="130"/>
                  </a:cubicBezTo>
                  <a:cubicBezTo>
                    <a:pt x="402" y="132"/>
                    <a:pt x="402" y="135"/>
                    <a:pt x="402" y="138"/>
                  </a:cubicBezTo>
                  <a:cubicBezTo>
                    <a:pt x="402" y="145"/>
                    <a:pt x="407" y="148"/>
                    <a:pt x="412" y="148"/>
                  </a:cubicBezTo>
                  <a:cubicBezTo>
                    <a:pt x="421" y="148"/>
                    <a:pt x="421" y="143"/>
                    <a:pt x="424" y="132"/>
                  </a:cubicBezTo>
                  <a:cubicBezTo>
                    <a:pt x="429" y="92"/>
                    <a:pt x="433" y="51"/>
                    <a:pt x="438" y="10"/>
                  </a:cubicBezTo>
                  <a:cubicBezTo>
                    <a:pt x="438" y="0"/>
                    <a:pt x="431" y="0"/>
                    <a:pt x="421" y="0"/>
                  </a:cubicBezTo>
                  <a:cubicBezTo>
                    <a:pt x="301" y="0"/>
                    <a:pt x="180" y="0"/>
                    <a:pt x="60" y="0"/>
                  </a:cubicBezTo>
                  <a:cubicBezTo>
                    <a:pt x="43" y="0"/>
                    <a:pt x="43" y="0"/>
                    <a:pt x="38" y="16"/>
                  </a:cubicBezTo>
                  <a:cubicBezTo>
                    <a:pt x="26" y="53"/>
                    <a:pt x="14" y="90"/>
                    <a:pt x="2" y="127"/>
                  </a:cubicBezTo>
                  <a:cubicBezTo>
                    <a:pt x="2" y="130"/>
                    <a:pt x="0" y="135"/>
                    <a:pt x="0" y="138"/>
                  </a:cubicBezTo>
                  <a:cubicBezTo>
                    <a:pt x="0" y="140"/>
                    <a:pt x="0" y="148"/>
                    <a:pt x="10" y="148"/>
                  </a:cubicBezTo>
                  <a:cubicBezTo>
                    <a:pt x="17" y="148"/>
                    <a:pt x="17" y="145"/>
                    <a:pt x="22" y="132"/>
                  </a:cubicBezTo>
                  <a:cubicBezTo>
                    <a:pt x="55" y="31"/>
                    <a:pt x="74" y="23"/>
                    <a:pt x="165" y="23"/>
                  </a:cubicBezTo>
                  <a:cubicBezTo>
                    <a:pt x="173" y="23"/>
                    <a:pt x="181" y="23"/>
                    <a:pt x="189" y="23"/>
                  </a:cubicBezTo>
                  <a:cubicBezTo>
                    <a:pt x="206" y="23"/>
                    <a:pt x="208" y="23"/>
                    <a:pt x="208" y="31"/>
                  </a:cubicBezTo>
                  <a:cubicBezTo>
                    <a:pt x="207" y="35"/>
                    <a:pt x="208" y="34"/>
                    <a:pt x="206" y="44"/>
                  </a:cubicBezTo>
                  <a:cubicBezTo>
                    <a:pt x="180" y="156"/>
                    <a:pt x="153" y="267"/>
                    <a:pt x="127" y="379"/>
                  </a:cubicBezTo>
                  <a:cubicBezTo>
                    <a:pt x="122" y="403"/>
                    <a:pt x="120" y="410"/>
                    <a:pt x="57" y="410"/>
                  </a:cubicBezTo>
                  <a:cubicBezTo>
                    <a:pt x="38" y="410"/>
                    <a:pt x="31" y="410"/>
                    <a:pt x="31" y="423"/>
                  </a:cubicBezTo>
                  <a:cubicBezTo>
                    <a:pt x="31" y="426"/>
                    <a:pt x="34" y="431"/>
                    <a:pt x="43" y="431"/>
                  </a:cubicBezTo>
                  <a:cubicBezTo>
                    <a:pt x="57" y="431"/>
                    <a:pt x="77" y="431"/>
                    <a:pt x="93" y="431"/>
                  </a:cubicBezTo>
                  <a:cubicBezTo>
                    <a:pt x="110" y="431"/>
                    <a:pt x="127" y="431"/>
                    <a:pt x="144" y="431"/>
                  </a:cubicBezTo>
                  <a:cubicBezTo>
                    <a:pt x="160" y="431"/>
                    <a:pt x="180" y="431"/>
                    <a:pt x="196" y="431"/>
                  </a:cubicBezTo>
                  <a:cubicBezTo>
                    <a:pt x="213" y="431"/>
                    <a:pt x="230" y="431"/>
                    <a:pt x="247" y="431"/>
                  </a:cubicBezTo>
                  <a:cubicBezTo>
                    <a:pt x="251" y="431"/>
                    <a:pt x="259" y="431"/>
                    <a:pt x="259" y="418"/>
                  </a:cubicBezTo>
                  <a:cubicBezTo>
                    <a:pt x="259" y="410"/>
                    <a:pt x="254" y="410"/>
                    <a:pt x="235" y="410"/>
                  </a:cubicBezTo>
                  <a:cubicBezTo>
                    <a:pt x="225" y="410"/>
                    <a:pt x="213" y="408"/>
                    <a:pt x="201" y="408"/>
                  </a:cubicBezTo>
                  <a:cubicBezTo>
                    <a:pt x="182" y="405"/>
                    <a:pt x="180" y="403"/>
                    <a:pt x="180" y="395"/>
                  </a:cubicBezTo>
                  <a:cubicBezTo>
                    <a:pt x="180" y="392"/>
                    <a:pt x="180" y="390"/>
                    <a:pt x="182" y="382"/>
                  </a:cubicBezTo>
                  <a:cubicBezTo>
                    <a:pt x="208" y="270"/>
                    <a:pt x="235" y="158"/>
                    <a:pt x="261" y="47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9FFC0C0-ED8E-BC10-1015-F76DDB2FEA17}"/>
                </a:ext>
              </a:extLst>
            </p:cNvPr>
            <p:cNvSpPr/>
            <p:nvPr/>
          </p:nvSpPr>
          <p:spPr>
            <a:xfrm>
              <a:off x="6280200" y="1778400"/>
              <a:ext cx="70200" cy="327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6" h="911">
                  <a:moveTo>
                    <a:pt x="196" y="454"/>
                  </a:moveTo>
                  <a:cubicBezTo>
                    <a:pt x="196" y="384"/>
                    <a:pt x="187" y="273"/>
                    <a:pt x="141" y="171"/>
                  </a:cubicBezTo>
                  <a:cubicBezTo>
                    <a:pt x="91" y="57"/>
                    <a:pt x="17" y="0"/>
                    <a:pt x="10" y="0"/>
                  </a:cubicBezTo>
                  <a:cubicBezTo>
                    <a:pt x="5" y="0"/>
                    <a:pt x="0" y="3"/>
                    <a:pt x="0" y="8"/>
                  </a:cubicBezTo>
                  <a:cubicBezTo>
                    <a:pt x="0" y="10"/>
                    <a:pt x="0" y="13"/>
                    <a:pt x="17" y="29"/>
                  </a:cubicBezTo>
                  <a:cubicBezTo>
                    <a:pt x="98" y="119"/>
                    <a:pt x="146" y="265"/>
                    <a:pt x="146" y="454"/>
                  </a:cubicBezTo>
                  <a:cubicBezTo>
                    <a:pt x="146" y="610"/>
                    <a:pt x="115" y="771"/>
                    <a:pt x="12" y="886"/>
                  </a:cubicBezTo>
                  <a:cubicBezTo>
                    <a:pt x="0" y="896"/>
                    <a:pt x="0" y="898"/>
                    <a:pt x="0" y="901"/>
                  </a:cubicBezTo>
                  <a:cubicBezTo>
                    <a:pt x="0" y="906"/>
                    <a:pt x="5" y="911"/>
                    <a:pt x="10" y="911"/>
                  </a:cubicBezTo>
                  <a:cubicBezTo>
                    <a:pt x="17" y="911"/>
                    <a:pt x="93" y="849"/>
                    <a:pt x="144" y="732"/>
                  </a:cubicBezTo>
                  <a:cubicBezTo>
                    <a:pt x="187" y="634"/>
                    <a:pt x="196" y="532"/>
                    <a:pt x="196" y="454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6E28379-F31D-6455-4BCE-594B76BBC9B3}"/>
                </a:ext>
              </a:extLst>
            </p:cNvPr>
            <p:cNvSpPr/>
            <p:nvPr/>
          </p:nvSpPr>
          <p:spPr>
            <a:xfrm>
              <a:off x="6481800" y="1903680"/>
              <a:ext cx="201240" cy="76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0" h="213">
                  <a:moveTo>
                    <a:pt x="531" y="36"/>
                  </a:moveTo>
                  <a:cubicBezTo>
                    <a:pt x="543" y="36"/>
                    <a:pt x="560" y="36"/>
                    <a:pt x="560" y="18"/>
                  </a:cubicBezTo>
                  <a:cubicBezTo>
                    <a:pt x="560" y="0"/>
                    <a:pt x="543" y="0"/>
                    <a:pt x="531" y="0"/>
                  </a:cubicBezTo>
                  <a:cubicBezTo>
                    <a:pt x="364" y="0"/>
                    <a:pt x="196" y="0"/>
                    <a:pt x="29" y="0"/>
                  </a:cubicBezTo>
                  <a:cubicBezTo>
                    <a:pt x="17" y="0"/>
                    <a:pt x="0" y="0"/>
                    <a:pt x="0" y="18"/>
                  </a:cubicBezTo>
                  <a:cubicBezTo>
                    <a:pt x="0" y="36"/>
                    <a:pt x="17" y="36"/>
                    <a:pt x="29" y="36"/>
                  </a:cubicBezTo>
                  <a:cubicBezTo>
                    <a:pt x="196" y="36"/>
                    <a:pt x="364" y="36"/>
                    <a:pt x="531" y="36"/>
                  </a:cubicBezTo>
                  <a:close/>
                  <a:moveTo>
                    <a:pt x="531" y="213"/>
                  </a:moveTo>
                  <a:cubicBezTo>
                    <a:pt x="543" y="213"/>
                    <a:pt x="560" y="213"/>
                    <a:pt x="560" y="195"/>
                  </a:cubicBezTo>
                  <a:cubicBezTo>
                    <a:pt x="560" y="177"/>
                    <a:pt x="543" y="177"/>
                    <a:pt x="531" y="177"/>
                  </a:cubicBezTo>
                  <a:cubicBezTo>
                    <a:pt x="364" y="177"/>
                    <a:pt x="196" y="177"/>
                    <a:pt x="29" y="177"/>
                  </a:cubicBezTo>
                  <a:cubicBezTo>
                    <a:pt x="17" y="177"/>
                    <a:pt x="0" y="177"/>
                    <a:pt x="0" y="195"/>
                  </a:cubicBezTo>
                  <a:cubicBezTo>
                    <a:pt x="0" y="213"/>
                    <a:pt x="17" y="213"/>
                    <a:pt x="29" y="213"/>
                  </a:cubicBezTo>
                  <a:cubicBezTo>
                    <a:pt x="196" y="213"/>
                    <a:pt x="364" y="213"/>
                    <a:pt x="531" y="21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A2C0B9B-5B82-1E4E-87E1-7B10FFC2193E}"/>
                </a:ext>
              </a:extLst>
            </p:cNvPr>
            <p:cNvSpPr/>
            <p:nvPr/>
          </p:nvSpPr>
          <p:spPr>
            <a:xfrm>
              <a:off x="7242840" y="1582920"/>
              <a:ext cx="99720" cy="218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608">
                  <a:moveTo>
                    <a:pt x="172" y="26"/>
                  </a:moveTo>
                  <a:cubicBezTo>
                    <a:pt x="172" y="3"/>
                    <a:pt x="172" y="0"/>
                    <a:pt x="153" y="0"/>
                  </a:cubicBezTo>
                  <a:cubicBezTo>
                    <a:pt x="101" y="60"/>
                    <a:pt x="26" y="60"/>
                    <a:pt x="0" y="60"/>
                  </a:cubicBezTo>
                  <a:cubicBezTo>
                    <a:pt x="0" y="69"/>
                    <a:pt x="0" y="79"/>
                    <a:pt x="0" y="88"/>
                  </a:cubicBezTo>
                  <a:cubicBezTo>
                    <a:pt x="17" y="88"/>
                    <a:pt x="67" y="88"/>
                    <a:pt x="110" y="65"/>
                  </a:cubicBezTo>
                  <a:cubicBezTo>
                    <a:pt x="110" y="222"/>
                    <a:pt x="110" y="380"/>
                    <a:pt x="110" y="538"/>
                  </a:cubicBezTo>
                  <a:cubicBezTo>
                    <a:pt x="110" y="569"/>
                    <a:pt x="108" y="579"/>
                    <a:pt x="31" y="579"/>
                  </a:cubicBezTo>
                  <a:cubicBezTo>
                    <a:pt x="22" y="579"/>
                    <a:pt x="14" y="579"/>
                    <a:pt x="5" y="579"/>
                  </a:cubicBezTo>
                  <a:cubicBezTo>
                    <a:pt x="5" y="589"/>
                    <a:pt x="5" y="598"/>
                    <a:pt x="5" y="608"/>
                  </a:cubicBezTo>
                  <a:cubicBezTo>
                    <a:pt x="34" y="605"/>
                    <a:pt x="108" y="605"/>
                    <a:pt x="141" y="605"/>
                  </a:cubicBezTo>
                  <a:cubicBezTo>
                    <a:pt x="175" y="605"/>
                    <a:pt x="249" y="605"/>
                    <a:pt x="278" y="608"/>
                  </a:cubicBezTo>
                  <a:cubicBezTo>
                    <a:pt x="278" y="598"/>
                    <a:pt x="278" y="589"/>
                    <a:pt x="278" y="579"/>
                  </a:cubicBezTo>
                  <a:cubicBezTo>
                    <a:pt x="269" y="579"/>
                    <a:pt x="260" y="579"/>
                    <a:pt x="251" y="579"/>
                  </a:cubicBezTo>
                  <a:cubicBezTo>
                    <a:pt x="175" y="579"/>
                    <a:pt x="172" y="571"/>
                    <a:pt x="172" y="538"/>
                  </a:cubicBezTo>
                  <a:cubicBezTo>
                    <a:pt x="172" y="367"/>
                    <a:pt x="172" y="196"/>
                    <a:pt x="172" y="2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2B13AB5-B85A-7FBC-5DD6-BE84CA5DAFB0}"/>
                </a:ext>
              </a:extLst>
            </p:cNvPr>
            <p:cNvSpPr/>
            <p:nvPr/>
          </p:nvSpPr>
          <p:spPr>
            <a:xfrm>
              <a:off x="6821280" y="1935360"/>
              <a:ext cx="940680" cy="12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14" h="36">
                  <a:moveTo>
                    <a:pt x="0" y="0"/>
                  </a:moveTo>
                  <a:cubicBezTo>
                    <a:pt x="871" y="0"/>
                    <a:pt x="1743" y="0"/>
                    <a:pt x="2614" y="0"/>
                  </a:cubicBezTo>
                  <a:cubicBezTo>
                    <a:pt x="2614" y="12"/>
                    <a:pt x="2614" y="24"/>
                    <a:pt x="2614" y="36"/>
                  </a:cubicBezTo>
                  <a:cubicBezTo>
                    <a:pt x="1743" y="36"/>
                    <a:pt x="871" y="36"/>
                    <a:pt x="0" y="36"/>
                  </a:cubicBezTo>
                  <a:cubicBezTo>
                    <a:pt x="0" y="24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94C0660-09B8-8DE6-85F4-6DB674866B82}"/>
                </a:ext>
              </a:extLst>
            </p:cNvPr>
            <p:cNvSpPr/>
            <p:nvPr/>
          </p:nvSpPr>
          <p:spPr>
            <a:xfrm>
              <a:off x="6854040" y="2002680"/>
              <a:ext cx="67680" cy="327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9" h="911">
                  <a:moveTo>
                    <a:pt x="184" y="36"/>
                  </a:moveTo>
                  <a:cubicBezTo>
                    <a:pt x="189" y="26"/>
                    <a:pt x="189" y="23"/>
                    <a:pt x="189" y="18"/>
                  </a:cubicBezTo>
                  <a:cubicBezTo>
                    <a:pt x="189" y="10"/>
                    <a:pt x="180" y="0"/>
                    <a:pt x="172" y="0"/>
                  </a:cubicBezTo>
                  <a:cubicBezTo>
                    <a:pt x="163" y="0"/>
                    <a:pt x="158" y="5"/>
                    <a:pt x="153" y="21"/>
                  </a:cubicBezTo>
                  <a:cubicBezTo>
                    <a:pt x="104" y="161"/>
                    <a:pt x="54" y="301"/>
                    <a:pt x="5" y="441"/>
                  </a:cubicBezTo>
                  <a:cubicBezTo>
                    <a:pt x="2" y="447"/>
                    <a:pt x="0" y="452"/>
                    <a:pt x="0" y="457"/>
                  </a:cubicBezTo>
                  <a:cubicBezTo>
                    <a:pt x="0" y="460"/>
                    <a:pt x="0" y="462"/>
                    <a:pt x="5" y="473"/>
                  </a:cubicBezTo>
                  <a:cubicBezTo>
                    <a:pt x="54" y="612"/>
                    <a:pt x="104" y="751"/>
                    <a:pt x="153" y="891"/>
                  </a:cubicBezTo>
                  <a:cubicBezTo>
                    <a:pt x="156" y="901"/>
                    <a:pt x="160" y="911"/>
                    <a:pt x="172" y="911"/>
                  </a:cubicBezTo>
                  <a:cubicBezTo>
                    <a:pt x="180" y="911"/>
                    <a:pt x="189" y="904"/>
                    <a:pt x="189" y="893"/>
                  </a:cubicBezTo>
                  <a:cubicBezTo>
                    <a:pt x="189" y="891"/>
                    <a:pt x="189" y="891"/>
                    <a:pt x="184" y="880"/>
                  </a:cubicBezTo>
                  <a:cubicBezTo>
                    <a:pt x="135" y="739"/>
                    <a:pt x="85" y="598"/>
                    <a:pt x="36" y="457"/>
                  </a:cubicBezTo>
                  <a:cubicBezTo>
                    <a:pt x="85" y="317"/>
                    <a:pt x="135" y="177"/>
                    <a:pt x="184" y="3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8C542E6-F4AA-305B-C719-54C86D6A69BF}"/>
                </a:ext>
              </a:extLst>
            </p:cNvPr>
            <p:cNvSpPr/>
            <p:nvPr/>
          </p:nvSpPr>
          <p:spPr>
            <a:xfrm>
              <a:off x="6950519" y="2025360"/>
              <a:ext cx="254880" cy="223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9" h="623">
                  <a:moveTo>
                    <a:pt x="603" y="96"/>
                  </a:moveTo>
                  <a:cubicBezTo>
                    <a:pt x="611" y="60"/>
                    <a:pt x="627" y="31"/>
                    <a:pt x="694" y="29"/>
                  </a:cubicBezTo>
                  <a:cubicBezTo>
                    <a:pt x="699" y="29"/>
                    <a:pt x="709" y="26"/>
                    <a:pt x="709" y="10"/>
                  </a:cubicBezTo>
                  <a:cubicBezTo>
                    <a:pt x="709" y="8"/>
                    <a:pt x="709" y="0"/>
                    <a:pt x="697" y="0"/>
                  </a:cubicBezTo>
                  <a:cubicBezTo>
                    <a:pt x="670" y="0"/>
                    <a:pt x="639" y="3"/>
                    <a:pt x="613" y="3"/>
                  </a:cubicBezTo>
                  <a:cubicBezTo>
                    <a:pt x="584" y="3"/>
                    <a:pt x="555" y="0"/>
                    <a:pt x="527" y="0"/>
                  </a:cubicBezTo>
                  <a:cubicBezTo>
                    <a:pt x="522" y="0"/>
                    <a:pt x="512" y="0"/>
                    <a:pt x="512" y="18"/>
                  </a:cubicBezTo>
                  <a:cubicBezTo>
                    <a:pt x="512" y="29"/>
                    <a:pt x="520" y="29"/>
                    <a:pt x="527" y="29"/>
                  </a:cubicBezTo>
                  <a:cubicBezTo>
                    <a:pt x="575" y="29"/>
                    <a:pt x="584" y="47"/>
                    <a:pt x="584" y="68"/>
                  </a:cubicBezTo>
                  <a:cubicBezTo>
                    <a:pt x="584" y="70"/>
                    <a:pt x="582" y="86"/>
                    <a:pt x="582" y="88"/>
                  </a:cubicBezTo>
                  <a:cubicBezTo>
                    <a:pt x="550" y="223"/>
                    <a:pt x="518" y="358"/>
                    <a:pt x="486" y="493"/>
                  </a:cubicBezTo>
                  <a:cubicBezTo>
                    <a:pt x="425" y="335"/>
                    <a:pt x="363" y="177"/>
                    <a:pt x="302" y="18"/>
                  </a:cubicBezTo>
                  <a:cubicBezTo>
                    <a:pt x="294" y="0"/>
                    <a:pt x="294" y="0"/>
                    <a:pt x="275" y="0"/>
                  </a:cubicBezTo>
                  <a:cubicBezTo>
                    <a:pt x="237" y="0"/>
                    <a:pt x="199" y="0"/>
                    <a:pt x="160" y="0"/>
                  </a:cubicBezTo>
                  <a:cubicBezTo>
                    <a:pt x="144" y="0"/>
                    <a:pt x="136" y="0"/>
                    <a:pt x="136" y="18"/>
                  </a:cubicBezTo>
                  <a:cubicBezTo>
                    <a:pt x="136" y="29"/>
                    <a:pt x="144" y="29"/>
                    <a:pt x="160" y="29"/>
                  </a:cubicBezTo>
                  <a:cubicBezTo>
                    <a:pt x="165" y="29"/>
                    <a:pt x="218" y="29"/>
                    <a:pt x="218" y="36"/>
                  </a:cubicBezTo>
                  <a:cubicBezTo>
                    <a:pt x="180" y="199"/>
                    <a:pt x="143" y="362"/>
                    <a:pt x="105" y="525"/>
                  </a:cubicBezTo>
                  <a:cubicBezTo>
                    <a:pt x="96" y="561"/>
                    <a:pt x="81" y="592"/>
                    <a:pt x="14" y="595"/>
                  </a:cubicBezTo>
                  <a:cubicBezTo>
                    <a:pt x="10" y="595"/>
                    <a:pt x="0" y="595"/>
                    <a:pt x="0" y="613"/>
                  </a:cubicBezTo>
                  <a:cubicBezTo>
                    <a:pt x="0" y="618"/>
                    <a:pt x="5" y="623"/>
                    <a:pt x="12" y="623"/>
                  </a:cubicBezTo>
                  <a:cubicBezTo>
                    <a:pt x="38" y="623"/>
                    <a:pt x="67" y="621"/>
                    <a:pt x="96" y="621"/>
                  </a:cubicBezTo>
                  <a:cubicBezTo>
                    <a:pt x="124" y="621"/>
                    <a:pt x="153" y="623"/>
                    <a:pt x="182" y="623"/>
                  </a:cubicBezTo>
                  <a:cubicBezTo>
                    <a:pt x="187" y="623"/>
                    <a:pt x="196" y="623"/>
                    <a:pt x="196" y="605"/>
                  </a:cubicBezTo>
                  <a:cubicBezTo>
                    <a:pt x="196" y="595"/>
                    <a:pt x="189" y="595"/>
                    <a:pt x="180" y="595"/>
                  </a:cubicBezTo>
                  <a:cubicBezTo>
                    <a:pt x="132" y="592"/>
                    <a:pt x="124" y="571"/>
                    <a:pt x="124" y="553"/>
                  </a:cubicBezTo>
                  <a:cubicBezTo>
                    <a:pt x="124" y="548"/>
                    <a:pt x="124" y="543"/>
                    <a:pt x="127" y="532"/>
                  </a:cubicBezTo>
                  <a:cubicBezTo>
                    <a:pt x="164" y="372"/>
                    <a:pt x="202" y="212"/>
                    <a:pt x="239" y="52"/>
                  </a:cubicBezTo>
                  <a:cubicBezTo>
                    <a:pt x="242" y="57"/>
                    <a:pt x="242" y="60"/>
                    <a:pt x="247" y="68"/>
                  </a:cubicBezTo>
                  <a:cubicBezTo>
                    <a:pt x="316" y="247"/>
                    <a:pt x="385" y="426"/>
                    <a:pt x="455" y="605"/>
                  </a:cubicBezTo>
                  <a:cubicBezTo>
                    <a:pt x="462" y="621"/>
                    <a:pt x="464" y="623"/>
                    <a:pt x="472" y="623"/>
                  </a:cubicBezTo>
                  <a:cubicBezTo>
                    <a:pt x="481" y="623"/>
                    <a:pt x="481" y="621"/>
                    <a:pt x="486" y="602"/>
                  </a:cubicBezTo>
                  <a:cubicBezTo>
                    <a:pt x="525" y="434"/>
                    <a:pt x="564" y="265"/>
                    <a:pt x="603" y="9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90ADCC8-294D-E044-8566-62C3818E30C1}"/>
                </a:ext>
              </a:extLst>
            </p:cNvPr>
            <p:cNvSpPr/>
            <p:nvPr/>
          </p:nvSpPr>
          <p:spPr>
            <a:xfrm>
              <a:off x="7192080" y="2196360"/>
              <a:ext cx="89280" cy="104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9" h="291">
                  <a:moveTo>
                    <a:pt x="201" y="29"/>
                  </a:moveTo>
                  <a:cubicBezTo>
                    <a:pt x="192" y="34"/>
                    <a:pt x="184" y="44"/>
                    <a:pt x="184" y="57"/>
                  </a:cubicBezTo>
                  <a:cubicBezTo>
                    <a:pt x="184" y="75"/>
                    <a:pt x="196" y="88"/>
                    <a:pt x="213" y="88"/>
                  </a:cubicBezTo>
                  <a:cubicBezTo>
                    <a:pt x="230" y="88"/>
                    <a:pt x="242" y="75"/>
                    <a:pt x="242" y="57"/>
                  </a:cubicBezTo>
                  <a:cubicBezTo>
                    <a:pt x="242" y="0"/>
                    <a:pt x="160" y="0"/>
                    <a:pt x="144" y="0"/>
                  </a:cubicBezTo>
                  <a:cubicBezTo>
                    <a:pt x="55" y="0"/>
                    <a:pt x="0" y="73"/>
                    <a:pt x="0" y="145"/>
                  </a:cubicBezTo>
                  <a:cubicBezTo>
                    <a:pt x="0" y="226"/>
                    <a:pt x="62" y="291"/>
                    <a:pt x="139" y="291"/>
                  </a:cubicBezTo>
                  <a:cubicBezTo>
                    <a:pt x="227" y="291"/>
                    <a:pt x="249" y="216"/>
                    <a:pt x="249" y="208"/>
                  </a:cubicBezTo>
                  <a:cubicBezTo>
                    <a:pt x="249" y="200"/>
                    <a:pt x="242" y="200"/>
                    <a:pt x="239" y="200"/>
                  </a:cubicBezTo>
                  <a:cubicBezTo>
                    <a:pt x="230" y="200"/>
                    <a:pt x="230" y="203"/>
                    <a:pt x="227" y="210"/>
                  </a:cubicBezTo>
                  <a:cubicBezTo>
                    <a:pt x="213" y="249"/>
                    <a:pt x="182" y="270"/>
                    <a:pt x="146" y="270"/>
                  </a:cubicBezTo>
                  <a:cubicBezTo>
                    <a:pt x="105" y="270"/>
                    <a:pt x="53" y="236"/>
                    <a:pt x="53" y="145"/>
                  </a:cubicBezTo>
                  <a:cubicBezTo>
                    <a:pt x="53" y="65"/>
                    <a:pt x="91" y="21"/>
                    <a:pt x="144" y="21"/>
                  </a:cubicBezTo>
                  <a:cubicBezTo>
                    <a:pt x="153" y="21"/>
                    <a:pt x="180" y="21"/>
                    <a:pt x="201" y="29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2F61E5F-E687-A558-4A5E-871CB0C2779F}"/>
                </a:ext>
              </a:extLst>
            </p:cNvPr>
            <p:cNvSpPr/>
            <p:nvPr/>
          </p:nvSpPr>
          <p:spPr>
            <a:xfrm>
              <a:off x="7297919" y="2196360"/>
              <a:ext cx="104039" cy="104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0" h="291">
                  <a:moveTo>
                    <a:pt x="290" y="148"/>
                  </a:moveTo>
                  <a:cubicBezTo>
                    <a:pt x="290" y="68"/>
                    <a:pt x="225" y="0"/>
                    <a:pt x="144" y="0"/>
                  </a:cubicBezTo>
                  <a:cubicBezTo>
                    <a:pt x="62" y="0"/>
                    <a:pt x="0" y="68"/>
                    <a:pt x="0" y="148"/>
                  </a:cubicBezTo>
                  <a:cubicBezTo>
                    <a:pt x="0" y="226"/>
                    <a:pt x="63" y="291"/>
                    <a:pt x="144" y="291"/>
                  </a:cubicBezTo>
                  <a:cubicBezTo>
                    <a:pt x="224" y="291"/>
                    <a:pt x="290" y="226"/>
                    <a:pt x="290" y="148"/>
                  </a:cubicBezTo>
                  <a:close/>
                  <a:moveTo>
                    <a:pt x="144" y="270"/>
                  </a:moveTo>
                  <a:cubicBezTo>
                    <a:pt x="122" y="270"/>
                    <a:pt x="91" y="262"/>
                    <a:pt x="72" y="231"/>
                  </a:cubicBezTo>
                  <a:cubicBezTo>
                    <a:pt x="55" y="205"/>
                    <a:pt x="53" y="171"/>
                    <a:pt x="53" y="143"/>
                  </a:cubicBezTo>
                  <a:cubicBezTo>
                    <a:pt x="53" y="114"/>
                    <a:pt x="55" y="78"/>
                    <a:pt x="74" y="49"/>
                  </a:cubicBezTo>
                  <a:cubicBezTo>
                    <a:pt x="91" y="31"/>
                    <a:pt x="115" y="18"/>
                    <a:pt x="144" y="18"/>
                  </a:cubicBezTo>
                  <a:cubicBezTo>
                    <a:pt x="180" y="18"/>
                    <a:pt x="204" y="34"/>
                    <a:pt x="218" y="55"/>
                  </a:cubicBezTo>
                  <a:cubicBezTo>
                    <a:pt x="235" y="81"/>
                    <a:pt x="235" y="112"/>
                    <a:pt x="235" y="143"/>
                  </a:cubicBezTo>
                  <a:cubicBezTo>
                    <a:pt x="235" y="174"/>
                    <a:pt x="235" y="208"/>
                    <a:pt x="215" y="234"/>
                  </a:cubicBezTo>
                  <a:cubicBezTo>
                    <a:pt x="201" y="257"/>
                    <a:pt x="172" y="270"/>
                    <a:pt x="144" y="27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F5D20D0-80E0-45A3-4ADE-26C9304E11B3}"/>
                </a:ext>
              </a:extLst>
            </p:cNvPr>
            <p:cNvSpPr/>
            <p:nvPr/>
          </p:nvSpPr>
          <p:spPr>
            <a:xfrm>
              <a:off x="7422120" y="2139120"/>
              <a:ext cx="47880" cy="158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" h="441">
                  <a:moveTo>
                    <a:pt x="89" y="0"/>
                  </a:moveTo>
                  <a:cubicBezTo>
                    <a:pt x="59" y="2"/>
                    <a:pt x="30" y="3"/>
                    <a:pt x="0" y="5"/>
                  </a:cubicBezTo>
                  <a:cubicBezTo>
                    <a:pt x="0" y="13"/>
                    <a:pt x="0" y="21"/>
                    <a:pt x="0" y="29"/>
                  </a:cubicBezTo>
                  <a:cubicBezTo>
                    <a:pt x="41" y="29"/>
                    <a:pt x="45" y="34"/>
                    <a:pt x="45" y="65"/>
                  </a:cubicBezTo>
                  <a:cubicBezTo>
                    <a:pt x="45" y="174"/>
                    <a:pt x="45" y="283"/>
                    <a:pt x="45" y="392"/>
                  </a:cubicBezTo>
                  <a:cubicBezTo>
                    <a:pt x="45" y="418"/>
                    <a:pt x="38" y="418"/>
                    <a:pt x="0" y="418"/>
                  </a:cubicBezTo>
                  <a:cubicBezTo>
                    <a:pt x="0" y="426"/>
                    <a:pt x="0" y="434"/>
                    <a:pt x="0" y="441"/>
                  </a:cubicBezTo>
                  <a:cubicBezTo>
                    <a:pt x="2" y="441"/>
                    <a:pt x="43" y="439"/>
                    <a:pt x="67" y="439"/>
                  </a:cubicBezTo>
                  <a:cubicBezTo>
                    <a:pt x="89" y="439"/>
                    <a:pt x="110" y="441"/>
                    <a:pt x="134" y="441"/>
                  </a:cubicBezTo>
                  <a:cubicBezTo>
                    <a:pt x="134" y="434"/>
                    <a:pt x="134" y="426"/>
                    <a:pt x="134" y="418"/>
                  </a:cubicBezTo>
                  <a:cubicBezTo>
                    <a:pt x="96" y="418"/>
                    <a:pt x="89" y="418"/>
                    <a:pt x="89" y="392"/>
                  </a:cubicBezTo>
                  <a:cubicBezTo>
                    <a:pt x="89" y="261"/>
                    <a:pt x="89" y="131"/>
                    <a:pt x="89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EE96E56-B5FC-3D41-C7BD-E4DE042A6F5B}"/>
                </a:ext>
              </a:extLst>
            </p:cNvPr>
            <p:cNvSpPr/>
            <p:nvPr/>
          </p:nvSpPr>
          <p:spPr>
            <a:xfrm>
              <a:off x="7490880" y="2139120"/>
              <a:ext cx="47160" cy="158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2" h="441">
                  <a:moveTo>
                    <a:pt x="89" y="0"/>
                  </a:moveTo>
                  <a:cubicBezTo>
                    <a:pt x="59" y="2"/>
                    <a:pt x="30" y="3"/>
                    <a:pt x="0" y="5"/>
                  </a:cubicBezTo>
                  <a:cubicBezTo>
                    <a:pt x="0" y="13"/>
                    <a:pt x="0" y="21"/>
                    <a:pt x="0" y="29"/>
                  </a:cubicBezTo>
                  <a:cubicBezTo>
                    <a:pt x="38" y="29"/>
                    <a:pt x="43" y="34"/>
                    <a:pt x="43" y="65"/>
                  </a:cubicBezTo>
                  <a:cubicBezTo>
                    <a:pt x="43" y="174"/>
                    <a:pt x="43" y="283"/>
                    <a:pt x="43" y="392"/>
                  </a:cubicBezTo>
                  <a:cubicBezTo>
                    <a:pt x="43" y="418"/>
                    <a:pt x="38" y="418"/>
                    <a:pt x="0" y="418"/>
                  </a:cubicBezTo>
                  <a:cubicBezTo>
                    <a:pt x="0" y="426"/>
                    <a:pt x="0" y="434"/>
                    <a:pt x="0" y="441"/>
                  </a:cubicBezTo>
                  <a:cubicBezTo>
                    <a:pt x="22" y="441"/>
                    <a:pt x="43" y="439"/>
                    <a:pt x="65" y="439"/>
                  </a:cubicBezTo>
                  <a:cubicBezTo>
                    <a:pt x="89" y="439"/>
                    <a:pt x="110" y="441"/>
                    <a:pt x="132" y="441"/>
                  </a:cubicBezTo>
                  <a:cubicBezTo>
                    <a:pt x="132" y="434"/>
                    <a:pt x="132" y="426"/>
                    <a:pt x="132" y="418"/>
                  </a:cubicBezTo>
                  <a:cubicBezTo>
                    <a:pt x="93" y="418"/>
                    <a:pt x="89" y="418"/>
                    <a:pt x="89" y="392"/>
                  </a:cubicBezTo>
                  <a:cubicBezTo>
                    <a:pt x="89" y="261"/>
                    <a:pt x="89" y="131"/>
                    <a:pt x="89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2B902CD-54D6-8E98-CE55-CB9BFA1FF641}"/>
                </a:ext>
              </a:extLst>
            </p:cNvPr>
            <p:cNvSpPr/>
            <p:nvPr/>
          </p:nvSpPr>
          <p:spPr>
            <a:xfrm>
              <a:off x="7660800" y="2002680"/>
              <a:ext cx="67680" cy="327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9" h="911">
                  <a:moveTo>
                    <a:pt x="184" y="473"/>
                  </a:moveTo>
                  <a:cubicBezTo>
                    <a:pt x="189" y="462"/>
                    <a:pt x="189" y="460"/>
                    <a:pt x="189" y="457"/>
                  </a:cubicBezTo>
                  <a:cubicBezTo>
                    <a:pt x="189" y="454"/>
                    <a:pt x="189" y="452"/>
                    <a:pt x="184" y="441"/>
                  </a:cubicBezTo>
                  <a:cubicBezTo>
                    <a:pt x="135" y="301"/>
                    <a:pt x="85" y="161"/>
                    <a:pt x="36" y="21"/>
                  </a:cubicBezTo>
                  <a:cubicBezTo>
                    <a:pt x="31" y="5"/>
                    <a:pt x="26" y="0"/>
                    <a:pt x="17" y="0"/>
                  </a:cubicBezTo>
                  <a:cubicBezTo>
                    <a:pt x="7" y="0"/>
                    <a:pt x="0" y="10"/>
                    <a:pt x="0" y="18"/>
                  </a:cubicBezTo>
                  <a:cubicBezTo>
                    <a:pt x="0" y="21"/>
                    <a:pt x="0" y="23"/>
                    <a:pt x="5" y="34"/>
                  </a:cubicBezTo>
                  <a:cubicBezTo>
                    <a:pt x="54" y="175"/>
                    <a:pt x="104" y="316"/>
                    <a:pt x="153" y="457"/>
                  </a:cubicBezTo>
                  <a:cubicBezTo>
                    <a:pt x="104" y="597"/>
                    <a:pt x="54" y="737"/>
                    <a:pt x="5" y="878"/>
                  </a:cubicBezTo>
                  <a:cubicBezTo>
                    <a:pt x="0" y="888"/>
                    <a:pt x="0" y="891"/>
                    <a:pt x="0" y="893"/>
                  </a:cubicBezTo>
                  <a:cubicBezTo>
                    <a:pt x="0" y="904"/>
                    <a:pt x="7" y="911"/>
                    <a:pt x="17" y="911"/>
                  </a:cubicBezTo>
                  <a:cubicBezTo>
                    <a:pt x="29" y="911"/>
                    <a:pt x="31" y="904"/>
                    <a:pt x="36" y="893"/>
                  </a:cubicBezTo>
                  <a:cubicBezTo>
                    <a:pt x="85" y="753"/>
                    <a:pt x="135" y="613"/>
                    <a:pt x="184" y="47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BD74AF5-5E37-03D0-45C4-3E514601E33A}"/>
                </a:ext>
              </a:extLst>
            </p:cNvPr>
            <p:cNvSpPr/>
            <p:nvPr/>
          </p:nvSpPr>
          <p:spPr>
            <a:xfrm>
              <a:off x="7846920" y="1574639"/>
              <a:ext cx="143640" cy="230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0" h="641">
                  <a:moveTo>
                    <a:pt x="400" y="10"/>
                  </a:moveTo>
                  <a:cubicBezTo>
                    <a:pt x="400" y="8"/>
                    <a:pt x="400" y="0"/>
                    <a:pt x="390" y="0"/>
                  </a:cubicBezTo>
                  <a:cubicBezTo>
                    <a:pt x="376" y="0"/>
                    <a:pt x="297" y="8"/>
                    <a:pt x="283" y="10"/>
                  </a:cubicBezTo>
                  <a:cubicBezTo>
                    <a:pt x="275" y="10"/>
                    <a:pt x="271" y="16"/>
                    <a:pt x="271" y="26"/>
                  </a:cubicBezTo>
                  <a:cubicBezTo>
                    <a:pt x="271" y="36"/>
                    <a:pt x="278" y="36"/>
                    <a:pt x="292" y="36"/>
                  </a:cubicBezTo>
                  <a:cubicBezTo>
                    <a:pt x="330" y="36"/>
                    <a:pt x="333" y="44"/>
                    <a:pt x="333" y="52"/>
                  </a:cubicBezTo>
                  <a:cubicBezTo>
                    <a:pt x="332" y="58"/>
                    <a:pt x="331" y="64"/>
                    <a:pt x="330" y="70"/>
                  </a:cubicBezTo>
                  <a:cubicBezTo>
                    <a:pt x="314" y="143"/>
                    <a:pt x="297" y="216"/>
                    <a:pt x="280" y="288"/>
                  </a:cubicBezTo>
                  <a:cubicBezTo>
                    <a:pt x="266" y="254"/>
                    <a:pt x="239" y="229"/>
                    <a:pt x="204" y="229"/>
                  </a:cubicBezTo>
                  <a:cubicBezTo>
                    <a:pt x="105" y="229"/>
                    <a:pt x="0" y="364"/>
                    <a:pt x="0" y="496"/>
                  </a:cubicBezTo>
                  <a:cubicBezTo>
                    <a:pt x="0" y="582"/>
                    <a:pt x="45" y="641"/>
                    <a:pt x="113" y="641"/>
                  </a:cubicBezTo>
                  <a:cubicBezTo>
                    <a:pt x="129" y="641"/>
                    <a:pt x="170" y="639"/>
                    <a:pt x="220" y="574"/>
                  </a:cubicBezTo>
                  <a:cubicBezTo>
                    <a:pt x="227" y="613"/>
                    <a:pt x="256" y="641"/>
                    <a:pt x="297" y="641"/>
                  </a:cubicBezTo>
                  <a:cubicBezTo>
                    <a:pt x="328" y="641"/>
                    <a:pt x="347" y="621"/>
                    <a:pt x="359" y="592"/>
                  </a:cubicBezTo>
                  <a:cubicBezTo>
                    <a:pt x="373" y="558"/>
                    <a:pt x="385" y="504"/>
                    <a:pt x="385" y="501"/>
                  </a:cubicBezTo>
                  <a:cubicBezTo>
                    <a:pt x="385" y="493"/>
                    <a:pt x="378" y="493"/>
                    <a:pt x="376" y="493"/>
                  </a:cubicBezTo>
                  <a:cubicBezTo>
                    <a:pt x="366" y="493"/>
                    <a:pt x="366" y="496"/>
                    <a:pt x="364" y="509"/>
                  </a:cubicBezTo>
                  <a:cubicBezTo>
                    <a:pt x="350" y="569"/>
                    <a:pt x="333" y="621"/>
                    <a:pt x="299" y="621"/>
                  </a:cubicBezTo>
                  <a:cubicBezTo>
                    <a:pt x="278" y="621"/>
                    <a:pt x="275" y="597"/>
                    <a:pt x="275" y="579"/>
                  </a:cubicBezTo>
                  <a:cubicBezTo>
                    <a:pt x="275" y="558"/>
                    <a:pt x="275" y="551"/>
                    <a:pt x="280" y="535"/>
                  </a:cubicBezTo>
                  <a:cubicBezTo>
                    <a:pt x="320" y="360"/>
                    <a:pt x="360" y="185"/>
                    <a:pt x="400" y="10"/>
                  </a:cubicBezTo>
                  <a:close/>
                  <a:moveTo>
                    <a:pt x="225" y="525"/>
                  </a:moveTo>
                  <a:cubicBezTo>
                    <a:pt x="220" y="540"/>
                    <a:pt x="220" y="543"/>
                    <a:pt x="208" y="558"/>
                  </a:cubicBezTo>
                  <a:cubicBezTo>
                    <a:pt x="172" y="608"/>
                    <a:pt x="136" y="621"/>
                    <a:pt x="113" y="621"/>
                  </a:cubicBezTo>
                  <a:cubicBezTo>
                    <a:pt x="72" y="621"/>
                    <a:pt x="60" y="571"/>
                    <a:pt x="60" y="535"/>
                  </a:cubicBezTo>
                  <a:cubicBezTo>
                    <a:pt x="60" y="491"/>
                    <a:pt x="86" y="379"/>
                    <a:pt x="105" y="338"/>
                  </a:cubicBezTo>
                  <a:cubicBezTo>
                    <a:pt x="132" y="283"/>
                    <a:pt x="170" y="249"/>
                    <a:pt x="204" y="249"/>
                  </a:cubicBezTo>
                  <a:cubicBezTo>
                    <a:pt x="259" y="249"/>
                    <a:pt x="271" y="325"/>
                    <a:pt x="271" y="330"/>
                  </a:cubicBezTo>
                  <a:cubicBezTo>
                    <a:pt x="271" y="335"/>
                    <a:pt x="268" y="340"/>
                    <a:pt x="268" y="345"/>
                  </a:cubicBezTo>
                  <a:cubicBezTo>
                    <a:pt x="254" y="405"/>
                    <a:pt x="239" y="465"/>
                    <a:pt x="225" y="52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13EDC93-9AFE-5165-DC3D-C2D750F231DA}"/>
                </a:ext>
              </a:extLst>
            </p:cNvPr>
            <p:cNvSpPr/>
            <p:nvPr/>
          </p:nvSpPr>
          <p:spPr>
            <a:xfrm>
              <a:off x="8003880" y="1578240"/>
              <a:ext cx="254880" cy="223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9" h="621">
                  <a:moveTo>
                    <a:pt x="603" y="93"/>
                  </a:moveTo>
                  <a:cubicBezTo>
                    <a:pt x="613" y="57"/>
                    <a:pt x="627" y="29"/>
                    <a:pt x="694" y="26"/>
                  </a:cubicBezTo>
                  <a:cubicBezTo>
                    <a:pt x="699" y="26"/>
                    <a:pt x="709" y="26"/>
                    <a:pt x="709" y="8"/>
                  </a:cubicBezTo>
                  <a:cubicBezTo>
                    <a:pt x="705" y="5"/>
                    <a:pt x="709" y="0"/>
                    <a:pt x="699" y="0"/>
                  </a:cubicBezTo>
                  <a:cubicBezTo>
                    <a:pt x="670" y="0"/>
                    <a:pt x="642" y="3"/>
                    <a:pt x="613" y="3"/>
                  </a:cubicBezTo>
                  <a:cubicBezTo>
                    <a:pt x="584" y="3"/>
                    <a:pt x="555" y="0"/>
                    <a:pt x="527" y="0"/>
                  </a:cubicBezTo>
                  <a:cubicBezTo>
                    <a:pt x="522" y="0"/>
                    <a:pt x="512" y="0"/>
                    <a:pt x="512" y="18"/>
                  </a:cubicBezTo>
                  <a:cubicBezTo>
                    <a:pt x="512" y="26"/>
                    <a:pt x="522" y="26"/>
                    <a:pt x="527" y="26"/>
                  </a:cubicBezTo>
                  <a:cubicBezTo>
                    <a:pt x="575" y="29"/>
                    <a:pt x="584" y="47"/>
                    <a:pt x="584" y="68"/>
                  </a:cubicBezTo>
                  <a:cubicBezTo>
                    <a:pt x="584" y="70"/>
                    <a:pt x="584" y="83"/>
                    <a:pt x="582" y="86"/>
                  </a:cubicBezTo>
                  <a:cubicBezTo>
                    <a:pt x="551" y="221"/>
                    <a:pt x="520" y="356"/>
                    <a:pt x="488" y="491"/>
                  </a:cubicBezTo>
                  <a:cubicBezTo>
                    <a:pt x="426" y="332"/>
                    <a:pt x="364" y="174"/>
                    <a:pt x="302" y="16"/>
                  </a:cubicBezTo>
                  <a:cubicBezTo>
                    <a:pt x="294" y="0"/>
                    <a:pt x="294" y="0"/>
                    <a:pt x="275" y="0"/>
                  </a:cubicBezTo>
                  <a:cubicBezTo>
                    <a:pt x="238" y="0"/>
                    <a:pt x="200" y="0"/>
                    <a:pt x="163" y="0"/>
                  </a:cubicBezTo>
                  <a:cubicBezTo>
                    <a:pt x="146" y="0"/>
                    <a:pt x="139" y="0"/>
                    <a:pt x="139" y="18"/>
                  </a:cubicBezTo>
                  <a:cubicBezTo>
                    <a:pt x="139" y="26"/>
                    <a:pt x="146" y="26"/>
                    <a:pt x="163" y="26"/>
                  </a:cubicBezTo>
                  <a:cubicBezTo>
                    <a:pt x="165" y="26"/>
                    <a:pt x="218" y="26"/>
                    <a:pt x="218" y="36"/>
                  </a:cubicBezTo>
                  <a:cubicBezTo>
                    <a:pt x="180" y="199"/>
                    <a:pt x="143" y="362"/>
                    <a:pt x="105" y="525"/>
                  </a:cubicBezTo>
                  <a:cubicBezTo>
                    <a:pt x="98" y="561"/>
                    <a:pt x="84" y="589"/>
                    <a:pt x="14" y="592"/>
                  </a:cubicBezTo>
                  <a:cubicBezTo>
                    <a:pt x="10" y="592"/>
                    <a:pt x="0" y="595"/>
                    <a:pt x="0" y="610"/>
                  </a:cubicBezTo>
                  <a:cubicBezTo>
                    <a:pt x="0" y="618"/>
                    <a:pt x="5" y="621"/>
                    <a:pt x="12" y="621"/>
                  </a:cubicBezTo>
                  <a:cubicBezTo>
                    <a:pt x="38" y="621"/>
                    <a:pt x="69" y="618"/>
                    <a:pt x="96" y="618"/>
                  </a:cubicBezTo>
                  <a:cubicBezTo>
                    <a:pt x="124" y="618"/>
                    <a:pt x="156" y="621"/>
                    <a:pt x="182" y="621"/>
                  </a:cubicBezTo>
                  <a:cubicBezTo>
                    <a:pt x="187" y="621"/>
                    <a:pt x="199" y="621"/>
                    <a:pt x="199" y="602"/>
                  </a:cubicBezTo>
                  <a:cubicBezTo>
                    <a:pt x="199" y="595"/>
                    <a:pt x="192" y="592"/>
                    <a:pt x="182" y="592"/>
                  </a:cubicBezTo>
                  <a:cubicBezTo>
                    <a:pt x="132" y="592"/>
                    <a:pt x="124" y="571"/>
                    <a:pt x="124" y="553"/>
                  </a:cubicBezTo>
                  <a:cubicBezTo>
                    <a:pt x="124" y="548"/>
                    <a:pt x="127" y="543"/>
                    <a:pt x="129" y="532"/>
                  </a:cubicBezTo>
                  <a:cubicBezTo>
                    <a:pt x="166" y="372"/>
                    <a:pt x="203" y="212"/>
                    <a:pt x="239" y="52"/>
                  </a:cubicBezTo>
                  <a:cubicBezTo>
                    <a:pt x="244" y="57"/>
                    <a:pt x="244" y="57"/>
                    <a:pt x="247" y="68"/>
                  </a:cubicBezTo>
                  <a:cubicBezTo>
                    <a:pt x="317" y="247"/>
                    <a:pt x="387" y="426"/>
                    <a:pt x="457" y="605"/>
                  </a:cubicBezTo>
                  <a:cubicBezTo>
                    <a:pt x="462" y="621"/>
                    <a:pt x="464" y="621"/>
                    <a:pt x="474" y="621"/>
                  </a:cubicBezTo>
                  <a:cubicBezTo>
                    <a:pt x="481" y="621"/>
                    <a:pt x="481" y="618"/>
                    <a:pt x="486" y="602"/>
                  </a:cubicBezTo>
                  <a:cubicBezTo>
                    <a:pt x="525" y="433"/>
                    <a:pt x="564" y="263"/>
                    <a:pt x="603" y="9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22A1228-BB99-8BA9-648D-6D2A3C7852FF}"/>
                </a:ext>
              </a:extLst>
            </p:cNvPr>
            <p:cNvSpPr/>
            <p:nvPr/>
          </p:nvSpPr>
          <p:spPr>
            <a:xfrm>
              <a:off x="8247600" y="1687680"/>
              <a:ext cx="15912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3" h="454">
                  <a:moveTo>
                    <a:pt x="89" y="377"/>
                  </a:moveTo>
                  <a:cubicBezTo>
                    <a:pt x="67" y="413"/>
                    <a:pt x="48" y="428"/>
                    <a:pt x="14" y="431"/>
                  </a:cubicBezTo>
                  <a:cubicBezTo>
                    <a:pt x="7" y="431"/>
                    <a:pt x="0" y="431"/>
                    <a:pt x="0" y="444"/>
                  </a:cubicBezTo>
                  <a:cubicBezTo>
                    <a:pt x="0" y="452"/>
                    <a:pt x="5" y="454"/>
                    <a:pt x="10" y="454"/>
                  </a:cubicBezTo>
                  <a:cubicBezTo>
                    <a:pt x="24" y="454"/>
                    <a:pt x="43" y="452"/>
                    <a:pt x="60" y="452"/>
                  </a:cubicBezTo>
                  <a:cubicBezTo>
                    <a:pt x="79" y="452"/>
                    <a:pt x="103" y="454"/>
                    <a:pt x="120" y="454"/>
                  </a:cubicBezTo>
                  <a:cubicBezTo>
                    <a:pt x="122" y="454"/>
                    <a:pt x="132" y="454"/>
                    <a:pt x="132" y="441"/>
                  </a:cubicBezTo>
                  <a:cubicBezTo>
                    <a:pt x="132" y="431"/>
                    <a:pt x="124" y="431"/>
                    <a:pt x="122" y="431"/>
                  </a:cubicBezTo>
                  <a:cubicBezTo>
                    <a:pt x="117" y="431"/>
                    <a:pt x="96" y="428"/>
                    <a:pt x="96" y="413"/>
                  </a:cubicBezTo>
                  <a:cubicBezTo>
                    <a:pt x="96" y="405"/>
                    <a:pt x="101" y="395"/>
                    <a:pt x="105" y="387"/>
                  </a:cubicBezTo>
                  <a:cubicBezTo>
                    <a:pt x="121" y="361"/>
                    <a:pt x="136" y="335"/>
                    <a:pt x="151" y="309"/>
                  </a:cubicBezTo>
                  <a:cubicBezTo>
                    <a:pt x="207" y="309"/>
                    <a:pt x="264" y="309"/>
                    <a:pt x="321" y="309"/>
                  </a:cubicBezTo>
                  <a:cubicBezTo>
                    <a:pt x="326" y="345"/>
                    <a:pt x="330" y="380"/>
                    <a:pt x="335" y="415"/>
                  </a:cubicBezTo>
                  <a:cubicBezTo>
                    <a:pt x="333" y="421"/>
                    <a:pt x="328" y="431"/>
                    <a:pt x="294" y="431"/>
                  </a:cubicBezTo>
                  <a:cubicBezTo>
                    <a:pt x="287" y="431"/>
                    <a:pt x="278" y="431"/>
                    <a:pt x="278" y="447"/>
                  </a:cubicBezTo>
                  <a:cubicBezTo>
                    <a:pt x="278" y="449"/>
                    <a:pt x="280" y="454"/>
                    <a:pt x="287" y="454"/>
                  </a:cubicBezTo>
                  <a:cubicBezTo>
                    <a:pt x="304" y="454"/>
                    <a:pt x="347" y="452"/>
                    <a:pt x="364" y="452"/>
                  </a:cubicBezTo>
                  <a:cubicBezTo>
                    <a:pt x="373" y="452"/>
                    <a:pt x="388" y="452"/>
                    <a:pt x="397" y="452"/>
                  </a:cubicBezTo>
                  <a:cubicBezTo>
                    <a:pt x="409" y="452"/>
                    <a:pt x="421" y="454"/>
                    <a:pt x="431" y="454"/>
                  </a:cubicBezTo>
                  <a:cubicBezTo>
                    <a:pt x="441" y="454"/>
                    <a:pt x="443" y="449"/>
                    <a:pt x="443" y="441"/>
                  </a:cubicBezTo>
                  <a:cubicBezTo>
                    <a:pt x="443" y="431"/>
                    <a:pt x="436" y="431"/>
                    <a:pt x="426" y="431"/>
                  </a:cubicBezTo>
                  <a:cubicBezTo>
                    <a:pt x="393" y="431"/>
                    <a:pt x="393" y="426"/>
                    <a:pt x="390" y="410"/>
                  </a:cubicBezTo>
                  <a:cubicBezTo>
                    <a:pt x="373" y="280"/>
                    <a:pt x="355" y="149"/>
                    <a:pt x="338" y="18"/>
                  </a:cubicBezTo>
                  <a:cubicBezTo>
                    <a:pt x="338" y="3"/>
                    <a:pt x="334" y="0"/>
                    <a:pt x="323" y="0"/>
                  </a:cubicBezTo>
                  <a:cubicBezTo>
                    <a:pt x="312" y="0"/>
                    <a:pt x="309" y="5"/>
                    <a:pt x="304" y="13"/>
                  </a:cubicBezTo>
                  <a:cubicBezTo>
                    <a:pt x="232" y="134"/>
                    <a:pt x="160" y="255"/>
                    <a:pt x="89" y="377"/>
                  </a:cubicBezTo>
                  <a:close/>
                  <a:moveTo>
                    <a:pt x="165" y="286"/>
                  </a:moveTo>
                  <a:cubicBezTo>
                    <a:pt x="207" y="216"/>
                    <a:pt x="248" y="147"/>
                    <a:pt x="290" y="78"/>
                  </a:cubicBezTo>
                  <a:cubicBezTo>
                    <a:pt x="298" y="147"/>
                    <a:pt x="307" y="216"/>
                    <a:pt x="316" y="286"/>
                  </a:cubicBezTo>
                  <a:cubicBezTo>
                    <a:pt x="266" y="286"/>
                    <a:pt x="215" y="286"/>
                    <a:pt x="165" y="28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9703729-A32A-AF96-48F7-50B6E547EBFD}"/>
                </a:ext>
              </a:extLst>
            </p:cNvPr>
            <p:cNvSpPr/>
            <p:nvPr/>
          </p:nvSpPr>
          <p:spPr>
            <a:xfrm>
              <a:off x="8429760" y="1687680"/>
              <a:ext cx="15984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5" h="454">
                  <a:moveTo>
                    <a:pt x="89" y="377"/>
                  </a:moveTo>
                  <a:cubicBezTo>
                    <a:pt x="67" y="413"/>
                    <a:pt x="50" y="428"/>
                    <a:pt x="14" y="431"/>
                  </a:cubicBezTo>
                  <a:cubicBezTo>
                    <a:pt x="10" y="431"/>
                    <a:pt x="0" y="431"/>
                    <a:pt x="0" y="444"/>
                  </a:cubicBezTo>
                  <a:cubicBezTo>
                    <a:pt x="0" y="452"/>
                    <a:pt x="7" y="454"/>
                    <a:pt x="10" y="454"/>
                  </a:cubicBezTo>
                  <a:cubicBezTo>
                    <a:pt x="24" y="454"/>
                    <a:pt x="43" y="452"/>
                    <a:pt x="60" y="452"/>
                  </a:cubicBezTo>
                  <a:cubicBezTo>
                    <a:pt x="79" y="452"/>
                    <a:pt x="103" y="454"/>
                    <a:pt x="120" y="454"/>
                  </a:cubicBezTo>
                  <a:cubicBezTo>
                    <a:pt x="124" y="454"/>
                    <a:pt x="132" y="454"/>
                    <a:pt x="132" y="441"/>
                  </a:cubicBezTo>
                  <a:cubicBezTo>
                    <a:pt x="132" y="431"/>
                    <a:pt x="124" y="431"/>
                    <a:pt x="122" y="431"/>
                  </a:cubicBezTo>
                  <a:cubicBezTo>
                    <a:pt x="117" y="431"/>
                    <a:pt x="96" y="428"/>
                    <a:pt x="96" y="413"/>
                  </a:cubicBezTo>
                  <a:cubicBezTo>
                    <a:pt x="96" y="405"/>
                    <a:pt x="103" y="395"/>
                    <a:pt x="105" y="387"/>
                  </a:cubicBezTo>
                  <a:cubicBezTo>
                    <a:pt x="121" y="361"/>
                    <a:pt x="137" y="335"/>
                    <a:pt x="153" y="309"/>
                  </a:cubicBezTo>
                  <a:cubicBezTo>
                    <a:pt x="209" y="309"/>
                    <a:pt x="265" y="309"/>
                    <a:pt x="321" y="309"/>
                  </a:cubicBezTo>
                  <a:cubicBezTo>
                    <a:pt x="326" y="345"/>
                    <a:pt x="330" y="380"/>
                    <a:pt x="335" y="415"/>
                  </a:cubicBezTo>
                  <a:cubicBezTo>
                    <a:pt x="333" y="421"/>
                    <a:pt x="328" y="431"/>
                    <a:pt x="294" y="431"/>
                  </a:cubicBezTo>
                  <a:cubicBezTo>
                    <a:pt x="287" y="431"/>
                    <a:pt x="280" y="431"/>
                    <a:pt x="280" y="447"/>
                  </a:cubicBezTo>
                  <a:cubicBezTo>
                    <a:pt x="280" y="449"/>
                    <a:pt x="280" y="454"/>
                    <a:pt x="287" y="454"/>
                  </a:cubicBezTo>
                  <a:cubicBezTo>
                    <a:pt x="306" y="454"/>
                    <a:pt x="347" y="452"/>
                    <a:pt x="364" y="452"/>
                  </a:cubicBezTo>
                  <a:cubicBezTo>
                    <a:pt x="376" y="452"/>
                    <a:pt x="388" y="452"/>
                    <a:pt x="400" y="452"/>
                  </a:cubicBezTo>
                  <a:cubicBezTo>
                    <a:pt x="409" y="452"/>
                    <a:pt x="421" y="454"/>
                    <a:pt x="433" y="454"/>
                  </a:cubicBezTo>
                  <a:cubicBezTo>
                    <a:pt x="441" y="454"/>
                    <a:pt x="445" y="449"/>
                    <a:pt x="445" y="441"/>
                  </a:cubicBezTo>
                  <a:cubicBezTo>
                    <a:pt x="445" y="431"/>
                    <a:pt x="438" y="431"/>
                    <a:pt x="429" y="431"/>
                  </a:cubicBezTo>
                  <a:cubicBezTo>
                    <a:pt x="393" y="431"/>
                    <a:pt x="393" y="426"/>
                    <a:pt x="390" y="410"/>
                  </a:cubicBezTo>
                  <a:cubicBezTo>
                    <a:pt x="373" y="280"/>
                    <a:pt x="357" y="149"/>
                    <a:pt x="340" y="18"/>
                  </a:cubicBezTo>
                  <a:cubicBezTo>
                    <a:pt x="338" y="3"/>
                    <a:pt x="336" y="0"/>
                    <a:pt x="326" y="0"/>
                  </a:cubicBezTo>
                  <a:cubicBezTo>
                    <a:pt x="315" y="0"/>
                    <a:pt x="311" y="5"/>
                    <a:pt x="304" y="13"/>
                  </a:cubicBezTo>
                  <a:cubicBezTo>
                    <a:pt x="232" y="134"/>
                    <a:pt x="160" y="255"/>
                    <a:pt x="89" y="377"/>
                  </a:cubicBezTo>
                  <a:close/>
                  <a:moveTo>
                    <a:pt x="168" y="286"/>
                  </a:moveTo>
                  <a:cubicBezTo>
                    <a:pt x="208" y="216"/>
                    <a:pt x="249" y="147"/>
                    <a:pt x="290" y="78"/>
                  </a:cubicBezTo>
                  <a:cubicBezTo>
                    <a:pt x="299" y="147"/>
                    <a:pt x="309" y="216"/>
                    <a:pt x="318" y="286"/>
                  </a:cubicBezTo>
                  <a:cubicBezTo>
                    <a:pt x="268" y="286"/>
                    <a:pt x="218" y="286"/>
                    <a:pt x="168" y="28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53FC944-6484-50D9-421C-3CB802D65F3A}"/>
                </a:ext>
              </a:extLst>
            </p:cNvPr>
            <p:cNvSpPr/>
            <p:nvPr/>
          </p:nvSpPr>
          <p:spPr>
            <a:xfrm>
              <a:off x="8632080" y="1555920"/>
              <a:ext cx="117000" cy="327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6" h="911">
                  <a:moveTo>
                    <a:pt x="323" y="34"/>
                  </a:moveTo>
                  <a:cubicBezTo>
                    <a:pt x="326" y="23"/>
                    <a:pt x="325" y="23"/>
                    <a:pt x="326" y="18"/>
                  </a:cubicBezTo>
                  <a:cubicBezTo>
                    <a:pt x="326" y="8"/>
                    <a:pt x="318" y="0"/>
                    <a:pt x="309" y="0"/>
                  </a:cubicBezTo>
                  <a:cubicBezTo>
                    <a:pt x="304" y="0"/>
                    <a:pt x="297" y="3"/>
                    <a:pt x="294" y="8"/>
                  </a:cubicBezTo>
                  <a:cubicBezTo>
                    <a:pt x="197" y="298"/>
                    <a:pt x="100" y="588"/>
                    <a:pt x="2" y="878"/>
                  </a:cubicBezTo>
                  <a:cubicBezTo>
                    <a:pt x="0" y="888"/>
                    <a:pt x="1" y="888"/>
                    <a:pt x="0" y="893"/>
                  </a:cubicBezTo>
                  <a:cubicBezTo>
                    <a:pt x="0" y="904"/>
                    <a:pt x="7" y="911"/>
                    <a:pt x="17" y="911"/>
                  </a:cubicBezTo>
                  <a:cubicBezTo>
                    <a:pt x="26" y="911"/>
                    <a:pt x="29" y="906"/>
                    <a:pt x="34" y="891"/>
                  </a:cubicBezTo>
                  <a:cubicBezTo>
                    <a:pt x="130" y="605"/>
                    <a:pt x="227" y="319"/>
                    <a:pt x="323" y="34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8E84F12-177B-AA44-B589-40B9AC667595}"/>
                </a:ext>
              </a:extLst>
            </p:cNvPr>
            <p:cNvSpPr/>
            <p:nvPr/>
          </p:nvSpPr>
          <p:spPr>
            <a:xfrm>
              <a:off x="8778600" y="1574639"/>
              <a:ext cx="143640" cy="230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0" h="641">
                  <a:moveTo>
                    <a:pt x="400" y="10"/>
                  </a:moveTo>
                  <a:cubicBezTo>
                    <a:pt x="400" y="8"/>
                    <a:pt x="400" y="0"/>
                    <a:pt x="390" y="0"/>
                  </a:cubicBezTo>
                  <a:cubicBezTo>
                    <a:pt x="376" y="0"/>
                    <a:pt x="297" y="8"/>
                    <a:pt x="283" y="10"/>
                  </a:cubicBezTo>
                  <a:cubicBezTo>
                    <a:pt x="275" y="10"/>
                    <a:pt x="271" y="16"/>
                    <a:pt x="271" y="26"/>
                  </a:cubicBezTo>
                  <a:cubicBezTo>
                    <a:pt x="271" y="36"/>
                    <a:pt x="278" y="36"/>
                    <a:pt x="292" y="36"/>
                  </a:cubicBezTo>
                  <a:cubicBezTo>
                    <a:pt x="330" y="36"/>
                    <a:pt x="333" y="44"/>
                    <a:pt x="333" y="52"/>
                  </a:cubicBezTo>
                  <a:cubicBezTo>
                    <a:pt x="332" y="58"/>
                    <a:pt x="331" y="64"/>
                    <a:pt x="330" y="70"/>
                  </a:cubicBezTo>
                  <a:cubicBezTo>
                    <a:pt x="314" y="143"/>
                    <a:pt x="297" y="216"/>
                    <a:pt x="280" y="288"/>
                  </a:cubicBezTo>
                  <a:cubicBezTo>
                    <a:pt x="266" y="254"/>
                    <a:pt x="242" y="229"/>
                    <a:pt x="204" y="229"/>
                  </a:cubicBezTo>
                  <a:cubicBezTo>
                    <a:pt x="105" y="229"/>
                    <a:pt x="0" y="364"/>
                    <a:pt x="0" y="496"/>
                  </a:cubicBezTo>
                  <a:cubicBezTo>
                    <a:pt x="0" y="582"/>
                    <a:pt x="45" y="641"/>
                    <a:pt x="113" y="641"/>
                  </a:cubicBezTo>
                  <a:cubicBezTo>
                    <a:pt x="129" y="641"/>
                    <a:pt x="170" y="639"/>
                    <a:pt x="220" y="574"/>
                  </a:cubicBezTo>
                  <a:cubicBezTo>
                    <a:pt x="227" y="613"/>
                    <a:pt x="259" y="641"/>
                    <a:pt x="297" y="641"/>
                  </a:cubicBezTo>
                  <a:cubicBezTo>
                    <a:pt x="328" y="641"/>
                    <a:pt x="347" y="621"/>
                    <a:pt x="359" y="592"/>
                  </a:cubicBezTo>
                  <a:cubicBezTo>
                    <a:pt x="373" y="558"/>
                    <a:pt x="385" y="504"/>
                    <a:pt x="385" y="501"/>
                  </a:cubicBezTo>
                  <a:cubicBezTo>
                    <a:pt x="385" y="493"/>
                    <a:pt x="378" y="493"/>
                    <a:pt x="376" y="493"/>
                  </a:cubicBezTo>
                  <a:cubicBezTo>
                    <a:pt x="366" y="493"/>
                    <a:pt x="366" y="496"/>
                    <a:pt x="364" y="509"/>
                  </a:cubicBezTo>
                  <a:cubicBezTo>
                    <a:pt x="350" y="569"/>
                    <a:pt x="335" y="621"/>
                    <a:pt x="299" y="621"/>
                  </a:cubicBezTo>
                  <a:cubicBezTo>
                    <a:pt x="278" y="621"/>
                    <a:pt x="275" y="597"/>
                    <a:pt x="275" y="579"/>
                  </a:cubicBezTo>
                  <a:cubicBezTo>
                    <a:pt x="275" y="558"/>
                    <a:pt x="275" y="551"/>
                    <a:pt x="280" y="535"/>
                  </a:cubicBezTo>
                  <a:cubicBezTo>
                    <a:pt x="320" y="360"/>
                    <a:pt x="360" y="185"/>
                    <a:pt x="400" y="10"/>
                  </a:cubicBezTo>
                  <a:close/>
                  <a:moveTo>
                    <a:pt x="225" y="525"/>
                  </a:moveTo>
                  <a:cubicBezTo>
                    <a:pt x="220" y="540"/>
                    <a:pt x="220" y="543"/>
                    <a:pt x="208" y="558"/>
                  </a:cubicBezTo>
                  <a:cubicBezTo>
                    <a:pt x="172" y="608"/>
                    <a:pt x="136" y="621"/>
                    <a:pt x="113" y="621"/>
                  </a:cubicBezTo>
                  <a:cubicBezTo>
                    <a:pt x="72" y="621"/>
                    <a:pt x="60" y="571"/>
                    <a:pt x="60" y="535"/>
                  </a:cubicBezTo>
                  <a:cubicBezTo>
                    <a:pt x="60" y="491"/>
                    <a:pt x="86" y="379"/>
                    <a:pt x="105" y="338"/>
                  </a:cubicBezTo>
                  <a:cubicBezTo>
                    <a:pt x="132" y="283"/>
                    <a:pt x="170" y="249"/>
                    <a:pt x="204" y="249"/>
                  </a:cubicBezTo>
                  <a:cubicBezTo>
                    <a:pt x="259" y="249"/>
                    <a:pt x="271" y="325"/>
                    <a:pt x="271" y="330"/>
                  </a:cubicBezTo>
                  <a:cubicBezTo>
                    <a:pt x="271" y="335"/>
                    <a:pt x="268" y="340"/>
                    <a:pt x="268" y="345"/>
                  </a:cubicBezTo>
                  <a:cubicBezTo>
                    <a:pt x="254" y="405"/>
                    <a:pt x="239" y="465"/>
                    <a:pt x="225" y="52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E8F2797-708F-3EEB-C2D2-BEC94E7F3C02}"/>
                </a:ext>
              </a:extLst>
            </p:cNvPr>
            <p:cNvSpPr/>
            <p:nvPr/>
          </p:nvSpPr>
          <p:spPr>
            <a:xfrm>
              <a:off x="8914680" y="1656720"/>
              <a:ext cx="157320" cy="20807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8" h="579">
                  <a:moveTo>
                    <a:pt x="65" y="514"/>
                  </a:moveTo>
                  <a:cubicBezTo>
                    <a:pt x="57" y="545"/>
                    <a:pt x="55" y="553"/>
                    <a:pt x="19" y="553"/>
                  </a:cubicBezTo>
                  <a:cubicBezTo>
                    <a:pt x="7" y="553"/>
                    <a:pt x="0" y="553"/>
                    <a:pt x="0" y="569"/>
                  </a:cubicBezTo>
                  <a:cubicBezTo>
                    <a:pt x="0" y="576"/>
                    <a:pt x="2" y="579"/>
                    <a:pt x="10" y="579"/>
                  </a:cubicBezTo>
                  <a:cubicBezTo>
                    <a:pt x="34" y="579"/>
                    <a:pt x="57" y="576"/>
                    <a:pt x="81" y="576"/>
                  </a:cubicBezTo>
                  <a:cubicBezTo>
                    <a:pt x="108" y="576"/>
                    <a:pt x="136" y="579"/>
                    <a:pt x="163" y="579"/>
                  </a:cubicBezTo>
                  <a:cubicBezTo>
                    <a:pt x="168" y="579"/>
                    <a:pt x="180" y="579"/>
                    <a:pt x="180" y="561"/>
                  </a:cubicBezTo>
                  <a:cubicBezTo>
                    <a:pt x="180" y="553"/>
                    <a:pt x="170" y="553"/>
                    <a:pt x="158" y="553"/>
                  </a:cubicBezTo>
                  <a:cubicBezTo>
                    <a:pt x="117" y="553"/>
                    <a:pt x="117" y="545"/>
                    <a:pt x="117" y="538"/>
                  </a:cubicBezTo>
                  <a:cubicBezTo>
                    <a:pt x="117" y="527"/>
                    <a:pt x="153" y="377"/>
                    <a:pt x="158" y="356"/>
                  </a:cubicBezTo>
                  <a:cubicBezTo>
                    <a:pt x="170" y="382"/>
                    <a:pt x="192" y="413"/>
                    <a:pt x="235" y="413"/>
                  </a:cubicBezTo>
                  <a:cubicBezTo>
                    <a:pt x="333" y="413"/>
                    <a:pt x="438" y="280"/>
                    <a:pt x="438" y="145"/>
                  </a:cubicBezTo>
                  <a:cubicBezTo>
                    <a:pt x="438" y="60"/>
                    <a:pt x="390" y="0"/>
                    <a:pt x="326" y="0"/>
                  </a:cubicBezTo>
                  <a:cubicBezTo>
                    <a:pt x="285" y="0"/>
                    <a:pt x="244" y="34"/>
                    <a:pt x="215" y="68"/>
                  </a:cubicBezTo>
                  <a:cubicBezTo>
                    <a:pt x="208" y="21"/>
                    <a:pt x="172" y="0"/>
                    <a:pt x="141" y="0"/>
                  </a:cubicBezTo>
                  <a:cubicBezTo>
                    <a:pt x="101" y="0"/>
                    <a:pt x="86" y="36"/>
                    <a:pt x="79" y="52"/>
                  </a:cubicBezTo>
                  <a:cubicBezTo>
                    <a:pt x="62" y="83"/>
                    <a:pt x="53" y="138"/>
                    <a:pt x="53" y="140"/>
                  </a:cubicBezTo>
                  <a:cubicBezTo>
                    <a:pt x="53" y="151"/>
                    <a:pt x="60" y="151"/>
                    <a:pt x="62" y="151"/>
                  </a:cubicBezTo>
                  <a:cubicBezTo>
                    <a:pt x="69" y="151"/>
                    <a:pt x="72" y="148"/>
                    <a:pt x="77" y="130"/>
                  </a:cubicBezTo>
                  <a:cubicBezTo>
                    <a:pt x="91" y="65"/>
                    <a:pt x="108" y="21"/>
                    <a:pt x="139" y="21"/>
                  </a:cubicBezTo>
                  <a:cubicBezTo>
                    <a:pt x="153" y="21"/>
                    <a:pt x="163" y="29"/>
                    <a:pt x="163" y="62"/>
                  </a:cubicBezTo>
                  <a:cubicBezTo>
                    <a:pt x="163" y="83"/>
                    <a:pt x="160" y="93"/>
                    <a:pt x="158" y="109"/>
                  </a:cubicBezTo>
                  <a:cubicBezTo>
                    <a:pt x="127" y="244"/>
                    <a:pt x="96" y="379"/>
                    <a:pt x="65" y="514"/>
                  </a:cubicBezTo>
                  <a:close/>
                  <a:moveTo>
                    <a:pt x="213" y="119"/>
                  </a:moveTo>
                  <a:cubicBezTo>
                    <a:pt x="218" y="93"/>
                    <a:pt x="239" y="68"/>
                    <a:pt x="256" y="55"/>
                  </a:cubicBezTo>
                  <a:cubicBezTo>
                    <a:pt x="285" y="26"/>
                    <a:pt x="309" y="21"/>
                    <a:pt x="323" y="21"/>
                  </a:cubicBezTo>
                  <a:cubicBezTo>
                    <a:pt x="357" y="21"/>
                    <a:pt x="378" y="52"/>
                    <a:pt x="378" y="106"/>
                  </a:cubicBezTo>
                  <a:cubicBezTo>
                    <a:pt x="378" y="161"/>
                    <a:pt x="350" y="265"/>
                    <a:pt x="335" y="299"/>
                  </a:cubicBezTo>
                  <a:cubicBezTo>
                    <a:pt x="306" y="364"/>
                    <a:pt x="266" y="392"/>
                    <a:pt x="235" y="392"/>
                  </a:cubicBezTo>
                  <a:cubicBezTo>
                    <a:pt x="180" y="392"/>
                    <a:pt x="168" y="317"/>
                    <a:pt x="168" y="312"/>
                  </a:cubicBezTo>
                  <a:cubicBezTo>
                    <a:pt x="168" y="307"/>
                    <a:pt x="168" y="309"/>
                    <a:pt x="170" y="299"/>
                  </a:cubicBezTo>
                  <a:cubicBezTo>
                    <a:pt x="184" y="239"/>
                    <a:pt x="199" y="179"/>
                    <a:pt x="213" y="119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0E78013-34A3-F38E-6356-B9AD77441200}"/>
                </a:ext>
              </a:extLst>
            </p:cNvPr>
            <p:cNvSpPr/>
            <p:nvPr/>
          </p:nvSpPr>
          <p:spPr>
            <a:xfrm>
              <a:off x="9085320" y="1696320"/>
              <a:ext cx="158400" cy="154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1" h="431">
                  <a:moveTo>
                    <a:pt x="261" y="44"/>
                  </a:moveTo>
                  <a:cubicBezTo>
                    <a:pt x="266" y="26"/>
                    <a:pt x="266" y="23"/>
                    <a:pt x="280" y="23"/>
                  </a:cubicBezTo>
                  <a:cubicBezTo>
                    <a:pt x="283" y="23"/>
                    <a:pt x="304" y="23"/>
                    <a:pt x="316" y="23"/>
                  </a:cubicBezTo>
                  <a:cubicBezTo>
                    <a:pt x="352" y="23"/>
                    <a:pt x="366" y="23"/>
                    <a:pt x="381" y="29"/>
                  </a:cubicBezTo>
                  <a:cubicBezTo>
                    <a:pt x="407" y="36"/>
                    <a:pt x="409" y="55"/>
                    <a:pt x="409" y="78"/>
                  </a:cubicBezTo>
                  <a:cubicBezTo>
                    <a:pt x="409" y="88"/>
                    <a:pt x="409" y="96"/>
                    <a:pt x="405" y="130"/>
                  </a:cubicBezTo>
                  <a:cubicBezTo>
                    <a:pt x="404" y="132"/>
                    <a:pt x="403" y="135"/>
                    <a:pt x="402" y="138"/>
                  </a:cubicBezTo>
                  <a:cubicBezTo>
                    <a:pt x="402" y="143"/>
                    <a:pt x="407" y="145"/>
                    <a:pt x="414" y="145"/>
                  </a:cubicBezTo>
                  <a:cubicBezTo>
                    <a:pt x="421" y="145"/>
                    <a:pt x="424" y="140"/>
                    <a:pt x="424" y="130"/>
                  </a:cubicBezTo>
                  <a:cubicBezTo>
                    <a:pt x="429" y="89"/>
                    <a:pt x="435" y="48"/>
                    <a:pt x="441" y="8"/>
                  </a:cubicBezTo>
                  <a:cubicBezTo>
                    <a:pt x="441" y="0"/>
                    <a:pt x="433" y="0"/>
                    <a:pt x="424" y="0"/>
                  </a:cubicBezTo>
                  <a:cubicBezTo>
                    <a:pt x="302" y="0"/>
                    <a:pt x="181" y="0"/>
                    <a:pt x="60" y="0"/>
                  </a:cubicBezTo>
                  <a:cubicBezTo>
                    <a:pt x="45" y="0"/>
                    <a:pt x="45" y="0"/>
                    <a:pt x="41" y="13"/>
                  </a:cubicBezTo>
                  <a:cubicBezTo>
                    <a:pt x="28" y="51"/>
                    <a:pt x="15" y="89"/>
                    <a:pt x="2" y="127"/>
                  </a:cubicBezTo>
                  <a:cubicBezTo>
                    <a:pt x="2" y="131"/>
                    <a:pt x="0" y="135"/>
                    <a:pt x="0" y="138"/>
                  </a:cubicBezTo>
                  <a:cubicBezTo>
                    <a:pt x="0" y="140"/>
                    <a:pt x="2" y="145"/>
                    <a:pt x="10" y="145"/>
                  </a:cubicBezTo>
                  <a:cubicBezTo>
                    <a:pt x="19" y="145"/>
                    <a:pt x="19" y="143"/>
                    <a:pt x="24" y="130"/>
                  </a:cubicBezTo>
                  <a:cubicBezTo>
                    <a:pt x="57" y="29"/>
                    <a:pt x="77" y="23"/>
                    <a:pt x="165" y="23"/>
                  </a:cubicBezTo>
                  <a:cubicBezTo>
                    <a:pt x="174" y="23"/>
                    <a:pt x="183" y="23"/>
                    <a:pt x="192" y="23"/>
                  </a:cubicBezTo>
                  <a:cubicBezTo>
                    <a:pt x="208" y="23"/>
                    <a:pt x="208" y="23"/>
                    <a:pt x="208" y="29"/>
                  </a:cubicBezTo>
                  <a:cubicBezTo>
                    <a:pt x="207" y="33"/>
                    <a:pt x="208" y="34"/>
                    <a:pt x="206" y="42"/>
                  </a:cubicBezTo>
                  <a:cubicBezTo>
                    <a:pt x="180" y="154"/>
                    <a:pt x="155" y="267"/>
                    <a:pt x="129" y="379"/>
                  </a:cubicBezTo>
                  <a:cubicBezTo>
                    <a:pt x="124" y="403"/>
                    <a:pt x="122" y="408"/>
                    <a:pt x="60" y="408"/>
                  </a:cubicBezTo>
                  <a:cubicBezTo>
                    <a:pt x="38" y="408"/>
                    <a:pt x="34" y="408"/>
                    <a:pt x="34" y="423"/>
                  </a:cubicBezTo>
                  <a:cubicBezTo>
                    <a:pt x="37" y="426"/>
                    <a:pt x="34" y="431"/>
                    <a:pt x="43" y="431"/>
                  </a:cubicBezTo>
                  <a:cubicBezTo>
                    <a:pt x="60" y="431"/>
                    <a:pt x="77" y="428"/>
                    <a:pt x="93" y="428"/>
                  </a:cubicBezTo>
                  <a:cubicBezTo>
                    <a:pt x="110" y="428"/>
                    <a:pt x="128" y="428"/>
                    <a:pt x="144" y="428"/>
                  </a:cubicBezTo>
                  <a:cubicBezTo>
                    <a:pt x="159" y="428"/>
                    <a:pt x="182" y="428"/>
                    <a:pt x="199" y="428"/>
                  </a:cubicBezTo>
                  <a:cubicBezTo>
                    <a:pt x="213" y="428"/>
                    <a:pt x="232" y="431"/>
                    <a:pt x="247" y="431"/>
                  </a:cubicBezTo>
                  <a:cubicBezTo>
                    <a:pt x="251" y="431"/>
                    <a:pt x="261" y="431"/>
                    <a:pt x="261" y="418"/>
                  </a:cubicBezTo>
                  <a:cubicBezTo>
                    <a:pt x="261" y="408"/>
                    <a:pt x="254" y="408"/>
                    <a:pt x="237" y="408"/>
                  </a:cubicBezTo>
                  <a:cubicBezTo>
                    <a:pt x="225" y="408"/>
                    <a:pt x="213" y="408"/>
                    <a:pt x="204" y="408"/>
                  </a:cubicBezTo>
                  <a:cubicBezTo>
                    <a:pt x="182" y="405"/>
                    <a:pt x="182" y="403"/>
                    <a:pt x="182" y="395"/>
                  </a:cubicBezTo>
                  <a:cubicBezTo>
                    <a:pt x="182" y="390"/>
                    <a:pt x="182" y="390"/>
                    <a:pt x="184" y="379"/>
                  </a:cubicBezTo>
                  <a:cubicBezTo>
                    <a:pt x="210" y="267"/>
                    <a:pt x="235" y="156"/>
                    <a:pt x="261" y="44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CFB453B-0FF5-0616-751F-BA6A35B2B925}"/>
                </a:ext>
              </a:extLst>
            </p:cNvPr>
            <p:cNvSpPr/>
            <p:nvPr/>
          </p:nvSpPr>
          <p:spPr>
            <a:xfrm>
              <a:off x="7835040" y="1935360"/>
              <a:ext cx="1432080" cy="12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79" h="36">
                  <a:moveTo>
                    <a:pt x="0" y="0"/>
                  </a:moveTo>
                  <a:cubicBezTo>
                    <a:pt x="1326" y="0"/>
                    <a:pt x="2653" y="0"/>
                    <a:pt x="3979" y="0"/>
                  </a:cubicBezTo>
                  <a:cubicBezTo>
                    <a:pt x="3979" y="12"/>
                    <a:pt x="3979" y="24"/>
                    <a:pt x="3979" y="36"/>
                  </a:cubicBezTo>
                  <a:cubicBezTo>
                    <a:pt x="2653" y="36"/>
                    <a:pt x="1326" y="36"/>
                    <a:pt x="0" y="36"/>
                  </a:cubicBezTo>
                  <a:cubicBezTo>
                    <a:pt x="0" y="24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D009444-F0B4-2E10-611F-3A26C2140405}"/>
                </a:ext>
              </a:extLst>
            </p:cNvPr>
            <p:cNvSpPr/>
            <p:nvPr/>
          </p:nvSpPr>
          <p:spPr>
            <a:xfrm>
              <a:off x="7903799" y="2021400"/>
              <a:ext cx="144360" cy="23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2" h="644">
                  <a:moveTo>
                    <a:pt x="402" y="10"/>
                  </a:moveTo>
                  <a:cubicBezTo>
                    <a:pt x="398" y="7"/>
                    <a:pt x="402" y="0"/>
                    <a:pt x="390" y="0"/>
                  </a:cubicBezTo>
                  <a:cubicBezTo>
                    <a:pt x="378" y="0"/>
                    <a:pt x="297" y="8"/>
                    <a:pt x="283" y="10"/>
                  </a:cubicBezTo>
                  <a:cubicBezTo>
                    <a:pt x="278" y="10"/>
                    <a:pt x="273" y="16"/>
                    <a:pt x="273" y="29"/>
                  </a:cubicBezTo>
                  <a:cubicBezTo>
                    <a:pt x="273" y="39"/>
                    <a:pt x="280" y="39"/>
                    <a:pt x="292" y="39"/>
                  </a:cubicBezTo>
                  <a:cubicBezTo>
                    <a:pt x="333" y="39"/>
                    <a:pt x="335" y="44"/>
                    <a:pt x="335" y="55"/>
                  </a:cubicBezTo>
                  <a:cubicBezTo>
                    <a:pt x="334" y="61"/>
                    <a:pt x="334" y="67"/>
                    <a:pt x="333" y="73"/>
                  </a:cubicBezTo>
                  <a:cubicBezTo>
                    <a:pt x="315" y="145"/>
                    <a:pt x="298" y="216"/>
                    <a:pt x="280" y="288"/>
                  </a:cubicBezTo>
                  <a:cubicBezTo>
                    <a:pt x="266" y="254"/>
                    <a:pt x="242" y="229"/>
                    <a:pt x="204" y="229"/>
                  </a:cubicBezTo>
                  <a:cubicBezTo>
                    <a:pt x="105" y="229"/>
                    <a:pt x="0" y="364"/>
                    <a:pt x="0" y="496"/>
                  </a:cubicBezTo>
                  <a:cubicBezTo>
                    <a:pt x="0" y="582"/>
                    <a:pt x="48" y="644"/>
                    <a:pt x="113" y="644"/>
                  </a:cubicBezTo>
                  <a:cubicBezTo>
                    <a:pt x="129" y="644"/>
                    <a:pt x="172" y="639"/>
                    <a:pt x="223" y="574"/>
                  </a:cubicBezTo>
                  <a:cubicBezTo>
                    <a:pt x="230" y="613"/>
                    <a:pt x="259" y="644"/>
                    <a:pt x="299" y="644"/>
                  </a:cubicBezTo>
                  <a:cubicBezTo>
                    <a:pt x="328" y="644"/>
                    <a:pt x="347" y="621"/>
                    <a:pt x="362" y="592"/>
                  </a:cubicBezTo>
                  <a:cubicBezTo>
                    <a:pt x="376" y="561"/>
                    <a:pt x="385" y="504"/>
                    <a:pt x="385" y="501"/>
                  </a:cubicBezTo>
                  <a:cubicBezTo>
                    <a:pt x="385" y="493"/>
                    <a:pt x="378" y="493"/>
                    <a:pt x="376" y="493"/>
                  </a:cubicBezTo>
                  <a:cubicBezTo>
                    <a:pt x="369" y="493"/>
                    <a:pt x="366" y="496"/>
                    <a:pt x="364" y="509"/>
                  </a:cubicBezTo>
                  <a:cubicBezTo>
                    <a:pt x="350" y="569"/>
                    <a:pt x="335" y="623"/>
                    <a:pt x="302" y="623"/>
                  </a:cubicBezTo>
                  <a:cubicBezTo>
                    <a:pt x="278" y="623"/>
                    <a:pt x="275" y="600"/>
                    <a:pt x="275" y="582"/>
                  </a:cubicBezTo>
                  <a:cubicBezTo>
                    <a:pt x="275" y="558"/>
                    <a:pt x="278" y="553"/>
                    <a:pt x="280" y="538"/>
                  </a:cubicBezTo>
                  <a:cubicBezTo>
                    <a:pt x="321" y="362"/>
                    <a:pt x="362" y="186"/>
                    <a:pt x="402" y="10"/>
                  </a:cubicBezTo>
                  <a:close/>
                  <a:moveTo>
                    <a:pt x="227" y="525"/>
                  </a:moveTo>
                  <a:cubicBezTo>
                    <a:pt x="223" y="540"/>
                    <a:pt x="223" y="543"/>
                    <a:pt x="211" y="558"/>
                  </a:cubicBezTo>
                  <a:cubicBezTo>
                    <a:pt x="172" y="608"/>
                    <a:pt x="139" y="623"/>
                    <a:pt x="115" y="623"/>
                  </a:cubicBezTo>
                  <a:cubicBezTo>
                    <a:pt x="72" y="623"/>
                    <a:pt x="60" y="571"/>
                    <a:pt x="60" y="538"/>
                  </a:cubicBezTo>
                  <a:cubicBezTo>
                    <a:pt x="60" y="491"/>
                    <a:pt x="89" y="379"/>
                    <a:pt x="108" y="338"/>
                  </a:cubicBezTo>
                  <a:cubicBezTo>
                    <a:pt x="134" y="283"/>
                    <a:pt x="170" y="249"/>
                    <a:pt x="204" y="249"/>
                  </a:cubicBezTo>
                  <a:cubicBezTo>
                    <a:pt x="259" y="249"/>
                    <a:pt x="271" y="325"/>
                    <a:pt x="271" y="330"/>
                  </a:cubicBezTo>
                  <a:cubicBezTo>
                    <a:pt x="271" y="335"/>
                    <a:pt x="271" y="340"/>
                    <a:pt x="268" y="345"/>
                  </a:cubicBezTo>
                  <a:cubicBezTo>
                    <a:pt x="255" y="405"/>
                    <a:pt x="241" y="465"/>
                    <a:pt x="227" y="52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66CDA47-EFF7-883C-DB5A-71B4F83D28A9}"/>
                </a:ext>
              </a:extLst>
            </p:cNvPr>
            <p:cNvSpPr/>
            <p:nvPr/>
          </p:nvSpPr>
          <p:spPr>
            <a:xfrm>
              <a:off x="8061480" y="2025360"/>
              <a:ext cx="254880" cy="223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9" h="623">
                  <a:moveTo>
                    <a:pt x="603" y="96"/>
                  </a:moveTo>
                  <a:cubicBezTo>
                    <a:pt x="611" y="60"/>
                    <a:pt x="627" y="31"/>
                    <a:pt x="694" y="29"/>
                  </a:cubicBezTo>
                  <a:cubicBezTo>
                    <a:pt x="699" y="29"/>
                    <a:pt x="709" y="26"/>
                    <a:pt x="709" y="10"/>
                  </a:cubicBezTo>
                  <a:cubicBezTo>
                    <a:pt x="709" y="8"/>
                    <a:pt x="709" y="0"/>
                    <a:pt x="697" y="0"/>
                  </a:cubicBezTo>
                  <a:cubicBezTo>
                    <a:pt x="670" y="0"/>
                    <a:pt x="639" y="3"/>
                    <a:pt x="613" y="3"/>
                  </a:cubicBezTo>
                  <a:cubicBezTo>
                    <a:pt x="584" y="3"/>
                    <a:pt x="555" y="0"/>
                    <a:pt x="527" y="0"/>
                  </a:cubicBezTo>
                  <a:cubicBezTo>
                    <a:pt x="522" y="0"/>
                    <a:pt x="512" y="0"/>
                    <a:pt x="512" y="18"/>
                  </a:cubicBezTo>
                  <a:cubicBezTo>
                    <a:pt x="512" y="29"/>
                    <a:pt x="520" y="29"/>
                    <a:pt x="527" y="29"/>
                  </a:cubicBezTo>
                  <a:cubicBezTo>
                    <a:pt x="575" y="29"/>
                    <a:pt x="584" y="47"/>
                    <a:pt x="584" y="68"/>
                  </a:cubicBezTo>
                  <a:cubicBezTo>
                    <a:pt x="584" y="70"/>
                    <a:pt x="582" y="86"/>
                    <a:pt x="582" y="88"/>
                  </a:cubicBezTo>
                  <a:cubicBezTo>
                    <a:pt x="550" y="223"/>
                    <a:pt x="518" y="358"/>
                    <a:pt x="486" y="493"/>
                  </a:cubicBezTo>
                  <a:cubicBezTo>
                    <a:pt x="425" y="335"/>
                    <a:pt x="363" y="177"/>
                    <a:pt x="302" y="18"/>
                  </a:cubicBezTo>
                  <a:cubicBezTo>
                    <a:pt x="294" y="0"/>
                    <a:pt x="294" y="0"/>
                    <a:pt x="273" y="0"/>
                  </a:cubicBezTo>
                  <a:cubicBezTo>
                    <a:pt x="235" y="0"/>
                    <a:pt x="198" y="0"/>
                    <a:pt x="160" y="0"/>
                  </a:cubicBezTo>
                  <a:cubicBezTo>
                    <a:pt x="144" y="0"/>
                    <a:pt x="136" y="0"/>
                    <a:pt x="136" y="18"/>
                  </a:cubicBezTo>
                  <a:cubicBezTo>
                    <a:pt x="136" y="29"/>
                    <a:pt x="144" y="29"/>
                    <a:pt x="160" y="29"/>
                  </a:cubicBezTo>
                  <a:cubicBezTo>
                    <a:pt x="165" y="29"/>
                    <a:pt x="218" y="29"/>
                    <a:pt x="218" y="36"/>
                  </a:cubicBezTo>
                  <a:cubicBezTo>
                    <a:pt x="180" y="199"/>
                    <a:pt x="143" y="362"/>
                    <a:pt x="105" y="525"/>
                  </a:cubicBezTo>
                  <a:cubicBezTo>
                    <a:pt x="96" y="561"/>
                    <a:pt x="81" y="592"/>
                    <a:pt x="14" y="595"/>
                  </a:cubicBezTo>
                  <a:cubicBezTo>
                    <a:pt x="10" y="595"/>
                    <a:pt x="0" y="595"/>
                    <a:pt x="0" y="613"/>
                  </a:cubicBezTo>
                  <a:cubicBezTo>
                    <a:pt x="0" y="618"/>
                    <a:pt x="5" y="623"/>
                    <a:pt x="12" y="623"/>
                  </a:cubicBezTo>
                  <a:cubicBezTo>
                    <a:pt x="38" y="623"/>
                    <a:pt x="67" y="621"/>
                    <a:pt x="96" y="621"/>
                  </a:cubicBezTo>
                  <a:cubicBezTo>
                    <a:pt x="124" y="621"/>
                    <a:pt x="153" y="623"/>
                    <a:pt x="182" y="623"/>
                  </a:cubicBezTo>
                  <a:cubicBezTo>
                    <a:pt x="187" y="623"/>
                    <a:pt x="196" y="623"/>
                    <a:pt x="196" y="605"/>
                  </a:cubicBezTo>
                  <a:cubicBezTo>
                    <a:pt x="196" y="595"/>
                    <a:pt x="189" y="595"/>
                    <a:pt x="180" y="595"/>
                  </a:cubicBezTo>
                  <a:cubicBezTo>
                    <a:pt x="132" y="592"/>
                    <a:pt x="124" y="571"/>
                    <a:pt x="124" y="553"/>
                  </a:cubicBezTo>
                  <a:cubicBezTo>
                    <a:pt x="124" y="548"/>
                    <a:pt x="124" y="543"/>
                    <a:pt x="127" y="532"/>
                  </a:cubicBezTo>
                  <a:cubicBezTo>
                    <a:pt x="164" y="372"/>
                    <a:pt x="202" y="212"/>
                    <a:pt x="239" y="52"/>
                  </a:cubicBezTo>
                  <a:cubicBezTo>
                    <a:pt x="242" y="57"/>
                    <a:pt x="242" y="60"/>
                    <a:pt x="247" y="68"/>
                  </a:cubicBezTo>
                  <a:cubicBezTo>
                    <a:pt x="316" y="247"/>
                    <a:pt x="385" y="426"/>
                    <a:pt x="455" y="605"/>
                  </a:cubicBezTo>
                  <a:cubicBezTo>
                    <a:pt x="462" y="621"/>
                    <a:pt x="464" y="623"/>
                    <a:pt x="472" y="623"/>
                  </a:cubicBezTo>
                  <a:cubicBezTo>
                    <a:pt x="481" y="623"/>
                    <a:pt x="481" y="621"/>
                    <a:pt x="486" y="602"/>
                  </a:cubicBezTo>
                  <a:cubicBezTo>
                    <a:pt x="525" y="434"/>
                    <a:pt x="564" y="265"/>
                    <a:pt x="603" y="9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5D75A15-8A46-E17D-C029-B30430CBB8E9}"/>
                </a:ext>
              </a:extLst>
            </p:cNvPr>
            <p:cNvSpPr/>
            <p:nvPr/>
          </p:nvSpPr>
          <p:spPr>
            <a:xfrm>
              <a:off x="8292600" y="2197080"/>
              <a:ext cx="118440" cy="14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0" h="405">
                  <a:moveTo>
                    <a:pt x="45" y="358"/>
                  </a:moveTo>
                  <a:cubicBezTo>
                    <a:pt x="41" y="377"/>
                    <a:pt x="41" y="382"/>
                    <a:pt x="17" y="382"/>
                  </a:cubicBezTo>
                  <a:cubicBezTo>
                    <a:pt x="10" y="382"/>
                    <a:pt x="0" y="382"/>
                    <a:pt x="0" y="395"/>
                  </a:cubicBezTo>
                  <a:cubicBezTo>
                    <a:pt x="0" y="403"/>
                    <a:pt x="7" y="405"/>
                    <a:pt x="10" y="405"/>
                  </a:cubicBezTo>
                  <a:cubicBezTo>
                    <a:pt x="24" y="405"/>
                    <a:pt x="43" y="403"/>
                    <a:pt x="60" y="403"/>
                  </a:cubicBezTo>
                  <a:cubicBezTo>
                    <a:pt x="79" y="403"/>
                    <a:pt x="103" y="405"/>
                    <a:pt x="122" y="405"/>
                  </a:cubicBezTo>
                  <a:cubicBezTo>
                    <a:pt x="127" y="405"/>
                    <a:pt x="134" y="403"/>
                    <a:pt x="134" y="392"/>
                  </a:cubicBezTo>
                  <a:cubicBezTo>
                    <a:pt x="134" y="382"/>
                    <a:pt x="124" y="382"/>
                    <a:pt x="117" y="382"/>
                  </a:cubicBezTo>
                  <a:cubicBezTo>
                    <a:pt x="105" y="382"/>
                    <a:pt x="89" y="382"/>
                    <a:pt x="89" y="374"/>
                  </a:cubicBezTo>
                  <a:cubicBezTo>
                    <a:pt x="89" y="371"/>
                    <a:pt x="93" y="356"/>
                    <a:pt x="96" y="345"/>
                  </a:cubicBezTo>
                  <a:cubicBezTo>
                    <a:pt x="103" y="312"/>
                    <a:pt x="110" y="278"/>
                    <a:pt x="117" y="249"/>
                  </a:cubicBezTo>
                  <a:cubicBezTo>
                    <a:pt x="124" y="262"/>
                    <a:pt x="144" y="288"/>
                    <a:pt x="177" y="288"/>
                  </a:cubicBezTo>
                  <a:cubicBezTo>
                    <a:pt x="249" y="288"/>
                    <a:pt x="330" y="203"/>
                    <a:pt x="330" y="106"/>
                  </a:cubicBezTo>
                  <a:cubicBezTo>
                    <a:pt x="330" y="31"/>
                    <a:pt x="283" y="0"/>
                    <a:pt x="242" y="0"/>
                  </a:cubicBezTo>
                  <a:cubicBezTo>
                    <a:pt x="204" y="0"/>
                    <a:pt x="172" y="26"/>
                    <a:pt x="158" y="44"/>
                  </a:cubicBezTo>
                  <a:cubicBezTo>
                    <a:pt x="148" y="8"/>
                    <a:pt x="115" y="0"/>
                    <a:pt x="96" y="0"/>
                  </a:cubicBezTo>
                  <a:cubicBezTo>
                    <a:pt x="74" y="0"/>
                    <a:pt x="60" y="16"/>
                    <a:pt x="50" y="34"/>
                  </a:cubicBezTo>
                  <a:cubicBezTo>
                    <a:pt x="38" y="55"/>
                    <a:pt x="29" y="93"/>
                    <a:pt x="29" y="99"/>
                  </a:cubicBezTo>
                  <a:cubicBezTo>
                    <a:pt x="29" y="106"/>
                    <a:pt x="35" y="104"/>
                    <a:pt x="38" y="106"/>
                  </a:cubicBezTo>
                  <a:cubicBezTo>
                    <a:pt x="48" y="106"/>
                    <a:pt x="48" y="104"/>
                    <a:pt x="53" y="86"/>
                  </a:cubicBezTo>
                  <a:cubicBezTo>
                    <a:pt x="60" y="49"/>
                    <a:pt x="72" y="18"/>
                    <a:pt x="96" y="18"/>
                  </a:cubicBezTo>
                  <a:cubicBezTo>
                    <a:pt x="110" y="18"/>
                    <a:pt x="115" y="31"/>
                    <a:pt x="115" y="49"/>
                  </a:cubicBezTo>
                  <a:cubicBezTo>
                    <a:pt x="115" y="57"/>
                    <a:pt x="113" y="65"/>
                    <a:pt x="113" y="68"/>
                  </a:cubicBezTo>
                  <a:cubicBezTo>
                    <a:pt x="90" y="164"/>
                    <a:pt x="68" y="261"/>
                    <a:pt x="45" y="358"/>
                  </a:cubicBezTo>
                  <a:close/>
                  <a:moveTo>
                    <a:pt x="156" y="75"/>
                  </a:moveTo>
                  <a:cubicBezTo>
                    <a:pt x="192" y="29"/>
                    <a:pt x="220" y="18"/>
                    <a:pt x="239" y="18"/>
                  </a:cubicBezTo>
                  <a:cubicBezTo>
                    <a:pt x="263" y="18"/>
                    <a:pt x="283" y="36"/>
                    <a:pt x="283" y="81"/>
                  </a:cubicBezTo>
                  <a:cubicBezTo>
                    <a:pt x="283" y="106"/>
                    <a:pt x="268" y="171"/>
                    <a:pt x="251" y="208"/>
                  </a:cubicBezTo>
                  <a:cubicBezTo>
                    <a:pt x="237" y="239"/>
                    <a:pt x="208" y="270"/>
                    <a:pt x="177" y="270"/>
                  </a:cubicBezTo>
                  <a:cubicBezTo>
                    <a:pt x="136" y="270"/>
                    <a:pt x="124" y="221"/>
                    <a:pt x="124" y="216"/>
                  </a:cubicBezTo>
                  <a:cubicBezTo>
                    <a:pt x="124" y="213"/>
                    <a:pt x="127" y="208"/>
                    <a:pt x="127" y="205"/>
                  </a:cubicBezTo>
                  <a:cubicBezTo>
                    <a:pt x="136" y="162"/>
                    <a:pt x="146" y="119"/>
                    <a:pt x="156" y="7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1E1F67C-9F2C-C463-7CEB-8B9EA87758C9}"/>
                </a:ext>
              </a:extLst>
            </p:cNvPr>
            <p:cNvSpPr/>
            <p:nvPr/>
          </p:nvSpPr>
          <p:spPr>
            <a:xfrm>
              <a:off x="8417520" y="2197080"/>
              <a:ext cx="117720" cy="14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405">
                  <a:moveTo>
                    <a:pt x="45" y="358"/>
                  </a:moveTo>
                  <a:cubicBezTo>
                    <a:pt x="41" y="377"/>
                    <a:pt x="41" y="382"/>
                    <a:pt x="17" y="382"/>
                  </a:cubicBezTo>
                  <a:cubicBezTo>
                    <a:pt x="10" y="382"/>
                    <a:pt x="0" y="382"/>
                    <a:pt x="0" y="395"/>
                  </a:cubicBezTo>
                  <a:cubicBezTo>
                    <a:pt x="0" y="403"/>
                    <a:pt x="5" y="405"/>
                    <a:pt x="10" y="405"/>
                  </a:cubicBezTo>
                  <a:cubicBezTo>
                    <a:pt x="24" y="405"/>
                    <a:pt x="43" y="403"/>
                    <a:pt x="60" y="403"/>
                  </a:cubicBezTo>
                  <a:cubicBezTo>
                    <a:pt x="79" y="403"/>
                    <a:pt x="101" y="405"/>
                    <a:pt x="122" y="405"/>
                  </a:cubicBezTo>
                  <a:cubicBezTo>
                    <a:pt x="127" y="405"/>
                    <a:pt x="134" y="403"/>
                    <a:pt x="134" y="392"/>
                  </a:cubicBezTo>
                  <a:cubicBezTo>
                    <a:pt x="134" y="382"/>
                    <a:pt x="124" y="382"/>
                    <a:pt x="117" y="382"/>
                  </a:cubicBezTo>
                  <a:cubicBezTo>
                    <a:pt x="105" y="382"/>
                    <a:pt x="89" y="382"/>
                    <a:pt x="89" y="374"/>
                  </a:cubicBezTo>
                  <a:cubicBezTo>
                    <a:pt x="89" y="371"/>
                    <a:pt x="93" y="356"/>
                    <a:pt x="96" y="345"/>
                  </a:cubicBezTo>
                  <a:cubicBezTo>
                    <a:pt x="103" y="312"/>
                    <a:pt x="110" y="278"/>
                    <a:pt x="117" y="249"/>
                  </a:cubicBezTo>
                  <a:cubicBezTo>
                    <a:pt x="124" y="262"/>
                    <a:pt x="141" y="288"/>
                    <a:pt x="177" y="288"/>
                  </a:cubicBezTo>
                  <a:cubicBezTo>
                    <a:pt x="249" y="288"/>
                    <a:pt x="328" y="203"/>
                    <a:pt x="328" y="106"/>
                  </a:cubicBezTo>
                  <a:cubicBezTo>
                    <a:pt x="328" y="31"/>
                    <a:pt x="280" y="0"/>
                    <a:pt x="242" y="0"/>
                  </a:cubicBezTo>
                  <a:cubicBezTo>
                    <a:pt x="204" y="0"/>
                    <a:pt x="172" y="26"/>
                    <a:pt x="158" y="44"/>
                  </a:cubicBezTo>
                  <a:cubicBezTo>
                    <a:pt x="146" y="8"/>
                    <a:pt x="115" y="0"/>
                    <a:pt x="96" y="0"/>
                  </a:cubicBezTo>
                  <a:cubicBezTo>
                    <a:pt x="74" y="0"/>
                    <a:pt x="60" y="16"/>
                    <a:pt x="50" y="34"/>
                  </a:cubicBezTo>
                  <a:cubicBezTo>
                    <a:pt x="38" y="55"/>
                    <a:pt x="29" y="93"/>
                    <a:pt x="29" y="99"/>
                  </a:cubicBezTo>
                  <a:cubicBezTo>
                    <a:pt x="29" y="106"/>
                    <a:pt x="36" y="106"/>
                    <a:pt x="38" y="106"/>
                  </a:cubicBezTo>
                  <a:cubicBezTo>
                    <a:pt x="48" y="106"/>
                    <a:pt x="48" y="104"/>
                    <a:pt x="53" y="86"/>
                  </a:cubicBezTo>
                  <a:cubicBezTo>
                    <a:pt x="60" y="49"/>
                    <a:pt x="72" y="18"/>
                    <a:pt x="96" y="18"/>
                  </a:cubicBezTo>
                  <a:cubicBezTo>
                    <a:pt x="110" y="18"/>
                    <a:pt x="115" y="31"/>
                    <a:pt x="115" y="49"/>
                  </a:cubicBezTo>
                  <a:cubicBezTo>
                    <a:pt x="115" y="57"/>
                    <a:pt x="113" y="65"/>
                    <a:pt x="113" y="68"/>
                  </a:cubicBezTo>
                  <a:cubicBezTo>
                    <a:pt x="90" y="164"/>
                    <a:pt x="68" y="261"/>
                    <a:pt x="45" y="358"/>
                  </a:cubicBezTo>
                  <a:close/>
                  <a:moveTo>
                    <a:pt x="156" y="75"/>
                  </a:moveTo>
                  <a:cubicBezTo>
                    <a:pt x="192" y="29"/>
                    <a:pt x="220" y="18"/>
                    <a:pt x="239" y="18"/>
                  </a:cubicBezTo>
                  <a:cubicBezTo>
                    <a:pt x="261" y="18"/>
                    <a:pt x="283" y="36"/>
                    <a:pt x="283" y="81"/>
                  </a:cubicBezTo>
                  <a:cubicBezTo>
                    <a:pt x="283" y="106"/>
                    <a:pt x="268" y="171"/>
                    <a:pt x="251" y="208"/>
                  </a:cubicBezTo>
                  <a:cubicBezTo>
                    <a:pt x="237" y="239"/>
                    <a:pt x="208" y="270"/>
                    <a:pt x="177" y="270"/>
                  </a:cubicBezTo>
                  <a:cubicBezTo>
                    <a:pt x="136" y="270"/>
                    <a:pt x="124" y="221"/>
                    <a:pt x="124" y="216"/>
                  </a:cubicBezTo>
                  <a:cubicBezTo>
                    <a:pt x="124" y="213"/>
                    <a:pt x="127" y="208"/>
                    <a:pt x="127" y="205"/>
                  </a:cubicBezTo>
                  <a:cubicBezTo>
                    <a:pt x="136" y="162"/>
                    <a:pt x="146" y="119"/>
                    <a:pt x="156" y="7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053FDA7-50B3-5189-B8EB-3797051341EE}"/>
                </a:ext>
              </a:extLst>
            </p:cNvPr>
            <p:cNvSpPr/>
            <p:nvPr/>
          </p:nvSpPr>
          <p:spPr>
            <a:xfrm>
              <a:off x="8574480" y="2002680"/>
              <a:ext cx="117720" cy="327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8" h="911">
                  <a:moveTo>
                    <a:pt x="323" y="36"/>
                  </a:moveTo>
                  <a:cubicBezTo>
                    <a:pt x="328" y="23"/>
                    <a:pt x="328" y="21"/>
                    <a:pt x="328" y="18"/>
                  </a:cubicBezTo>
                  <a:cubicBezTo>
                    <a:pt x="328" y="10"/>
                    <a:pt x="321" y="0"/>
                    <a:pt x="311" y="0"/>
                  </a:cubicBezTo>
                  <a:cubicBezTo>
                    <a:pt x="304" y="0"/>
                    <a:pt x="299" y="3"/>
                    <a:pt x="297" y="10"/>
                  </a:cubicBezTo>
                  <a:cubicBezTo>
                    <a:pt x="200" y="299"/>
                    <a:pt x="102" y="589"/>
                    <a:pt x="5" y="878"/>
                  </a:cubicBezTo>
                  <a:cubicBezTo>
                    <a:pt x="0" y="891"/>
                    <a:pt x="2" y="888"/>
                    <a:pt x="0" y="893"/>
                  </a:cubicBezTo>
                  <a:cubicBezTo>
                    <a:pt x="0" y="904"/>
                    <a:pt x="7" y="911"/>
                    <a:pt x="17" y="911"/>
                  </a:cubicBezTo>
                  <a:cubicBezTo>
                    <a:pt x="29" y="911"/>
                    <a:pt x="31" y="906"/>
                    <a:pt x="36" y="891"/>
                  </a:cubicBezTo>
                  <a:cubicBezTo>
                    <a:pt x="132" y="606"/>
                    <a:pt x="227" y="321"/>
                    <a:pt x="323" y="36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92A780F-C8F9-17E2-2A0F-659182EC76B6}"/>
                </a:ext>
              </a:extLst>
            </p:cNvPr>
            <p:cNvSpPr/>
            <p:nvPr/>
          </p:nvSpPr>
          <p:spPr>
            <a:xfrm>
              <a:off x="8721720" y="2021400"/>
              <a:ext cx="143640" cy="23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0" h="644">
                  <a:moveTo>
                    <a:pt x="400" y="10"/>
                  </a:moveTo>
                  <a:cubicBezTo>
                    <a:pt x="396" y="7"/>
                    <a:pt x="400" y="0"/>
                    <a:pt x="388" y="0"/>
                  </a:cubicBezTo>
                  <a:cubicBezTo>
                    <a:pt x="376" y="0"/>
                    <a:pt x="297" y="8"/>
                    <a:pt x="283" y="10"/>
                  </a:cubicBezTo>
                  <a:cubicBezTo>
                    <a:pt x="275" y="10"/>
                    <a:pt x="271" y="16"/>
                    <a:pt x="271" y="29"/>
                  </a:cubicBezTo>
                  <a:cubicBezTo>
                    <a:pt x="271" y="39"/>
                    <a:pt x="278" y="39"/>
                    <a:pt x="290" y="39"/>
                  </a:cubicBezTo>
                  <a:cubicBezTo>
                    <a:pt x="330" y="39"/>
                    <a:pt x="333" y="44"/>
                    <a:pt x="333" y="55"/>
                  </a:cubicBezTo>
                  <a:cubicBezTo>
                    <a:pt x="332" y="61"/>
                    <a:pt x="331" y="67"/>
                    <a:pt x="330" y="73"/>
                  </a:cubicBezTo>
                  <a:cubicBezTo>
                    <a:pt x="314" y="145"/>
                    <a:pt x="297" y="216"/>
                    <a:pt x="280" y="288"/>
                  </a:cubicBezTo>
                  <a:cubicBezTo>
                    <a:pt x="263" y="254"/>
                    <a:pt x="239" y="229"/>
                    <a:pt x="201" y="229"/>
                  </a:cubicBezTo>
                  <a:cubicBezTo>
                    <a:pt x="103" y="229"/>
                    <a:pt x="0" y="364"/>
                    <a:pt x="0" y="496"/>
                  </a:cubicBezTo>
                  <a:cubicBezTo>
                    <a:pt x="0" y="582"/>
                    <a:pt x="45" y="644"/>
                    <a:pt x="110" y="644"/>
                  </a:cubicBezTo>
                  <a:cubicBezTo>
                    <a:pt x="127" y="644"/>
                    <a:pt x="170" y="639"/>
                    <a:pt x="220" y="574"/>
                  </a:cubicBezTo>
                  <a:cubicBezTo>
                    <a:pt x="227" y="613"/>
                    <a:pt x="256" y="644"/>
                    <a:pt x="297" y="644"/>
                  </a:cubicBezTo>
                  <a:cubicBezTo>
                    <a:pt x="326" y="644"/>
                    <a:pt x="345" y="621"/>
                    <a:pt x="359" y="592"/>
                  </a:cubicBezTo>
                  <a:cubicBezTo>
                    <a:pt x="373" y="561"/>
                    <a:pt x="383" y="504"/>
                    <a:pt x="383" y="501"/>
                  </a:cubicBezTo>
                  <a:cubicBezTo>
                    <a:pt x="383" y="493"/>
                    <a:pt x="376" y="493"/>
                    <a:pt x="373" y="493"/>
                  </a:cubicBezTo>
                  <a:cubicBezTo>
                    <a:pt x="366" y="493"/>
                    <a:pt x="364" y="496"/>
                    <a:pt x="362" y="509"/>
                  </a:cubicBezTo>
                  <a:cubicBezTo>
                    <a:pt x="347" y="569"/>
                    <a:pt x="333" y="623"/>
                    <a:pt x="299" y="623"/>
                  </a:cubicBezTo>
                  <a:cubicBezTo>
                    <a:pt x="275" y="623"/>
                    <a:pt x="273" y="600"/>
                    <a:pt x="273" y="582"/>
                  </a:cubicBezTo>
                  <a:cubicBezTo>
                    <a:pt x="273" y="558"/>
                    <a:pt x="275" y="553"/>
                    <a:pt x="278" y="538"/>
                  </a:cubicBezTo>
                  <a:cubicBezTo>
                    <a:pt x="318" y="362"/>
                    <a:pt x="359" y="186"/>
                    <a:pt x="400" y="10"/>
                  </a:cubicBezTo>
                  <a:close/>
                  <a:moveTo>
                    <a:pt x="225" y="525"/>
                  </a:moveTo>
                  <a:cubicBezTo>
                    <a:pt x="220" y="540"/>
                    <a:pt x="220" y="543"/>
                    <a:pt x="208" y="558"/>
                  </a:cubicBezTo>
                  <a:cubicBezTo>
                    <a:pt x="170" y="608"/>
                    <a:pt x="136" y="623"/>
                    <a:pt x="113" y="623"/>
                  </a:cubicBezTo>
                  <a:cubicBezTo>
                    <a:pt x="69" y="623"/>
                    <a:pt x="60" y="571"/>
                    <a:pt x="60" y="538"/>
                  </a:cubicBezTo>
                  <a:cubicBezTo>
                    <a:pt x="60" y="491"/>
                    <a:pt x="86" y="379"/>
                    <a:pt x="105" y="338"/>
                  </a:cubicBezTo>
                  <a:cubicBezTo>
                    <a:pt x="132" y="283"/>
                    <a:pt x="170" y="249"/>
                    <a:pt x="204" y="249"/>
                  </a:cubicBezTo>
                  <a:cubicBezTo>
                    <a:pt x="256" y="249"/>
                    <a:pt x="268" y="325"/>
                    <a:pt x="268" y="330"/>
                  </a:cubicBezTo>
                  <a:cubicBezTo>
                    <a:pt x="268" y="335"/>
                    <a:pt x="268" y="340"/>
                    <a:pt x="266" y="345"/>
                  </a:cubicBezTo>
                  <a:cubicBezTo>
                    <a:pt x="252" y="405"/>
                    <a:pt x="239" y="465"/>
                    <a:pt x="225" y="52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18E650D-B9E9-168F-0C55-0B64E02B6AF6}"/>
                </a:ext>
              </a:extLst>
            </p:cNvPr>
            <p:cNvSpPr/>
            <p:nvPr/>
          </p:nvSpPr>
          <p:spPr>
            <a:xfrm>
              <a:off x="8857080" y="2103840"/>
              <a:ext cx="158400" cy="209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1" h="582">
                  <a:moveTo>
                    <a:pt x="65" y="514"/>
                  </a:moveTo>
                  <a:cubicBezTo>
                    <a:pt x="57" y="545"/>
                    <a:pt x="57" y="553"/>
                    <a:pt x="19" y="553"/>
                  </a:cubicBezTo>
                  <a:cubicBezTo>
                    <a:pt x="10" y="553"/>
                    <a:pt x="0" y="553"/>
                    <a:pt x="0" y="571"/>
                  </a:cubicBezTo>
                  <a:cubicBezTo>
                    <a:pt x="0" y="576"/>
                    <a:pt x="5" y="582"/>
                    <a:pt x="12" y="582"/>
                  </a:cubicBezTo>
                  <a:cubicBezTo>
                    <a:pt x="34" y="582"/>
                    <a:pt x="57" y="579"/>
                    <a:pt x="81" y="579"/>
                  </a:cubicBezTo>
                  <a:cubicBezTo>
                    <a:pt x="110" y="579"/>
                    <a:pt x="139" y="582"/>
                    <a:pt x="165" y="582"/>
                  </a:cubicBezTo>
                  <a:cubicBezTo>
                    <a:pt x="170" y="582"/>
                    <a:pt x="180" y="582"/>
                    <a:pt x="180" y="564"/>
                  </a:cubicBezTo>
                  <a:cubicBezTo>
                    <a:pt x="180" y="553"/>
                    <a:pt x="172" y="553"/>
                    <a:pt x="160" y="553"/>
                  </a:cubicBezTo>
                  <a:cubicBezTo>
                    <a:pt x="117" y="553"/>
                    <a:pt x="117" y="545"/>
                    <a:pt x="117" y="538"/>
                  </a:cubicBezTo>
                  <a:cubicBezTo>
                    <a:pt x="117" y="527"/>
                    <a:pt x="153" y="379"/>
                    <a:pt x="160" y="356"/>
                  </a:cubicBezTo>
                  <a:cubicBezTo>
                    <a:pt x="170" y="382"/>
                    <a:pt x="194" y="415"/>
                    <a:pt x="237" y="415"/>
                  </a:cubicBezTo>
                  <a:cubicBezTo>
                    <a:pt x="335" y="415"/>
                    <a:pt x="441" y="280"/>
                    <a:pt x="441" y="148"/>
                  </a:cubicBezTo>
                  <a:cubicBezTo>
                    <a:pt x="441" y="62"/>
                    <a:pt x="393" y="0"/>
                    <a:pt x="328" y="0"/>
                  </a:cubicBezTo>
                  <a:cubicBezTo>
                    <a:pt x="285" y="0"/>
                    <a:pt x="244" y="34"/>
                    <a:pt x="218" y="70"/>
                  </a:cubicBezTo>
                  <a:cubicBezTo>
                    <a:pt x="208" y="21"/>
                    <a:pt x="172" y="0"/>
                    <a:pt x="141" y="0"/>
                  </a:cubicBezTo>
                  <a:cubicBezTo>
                    <a:pt x="103" y="0"/>
                    <a:pt x="86" y="36"/>
                    <a:pt x="79" y="52"/>
                  </a:cubicBezTo>
                  <a:cubicBezTo>
                    <a:pt x="65" y="83"/>
                    <a:pt x="53" y="138"/>
                    <a:pt x="53" y="143"/>
                  </a:cubicBezTo>
                  <a:cubicBezTo>
                    <a:pt x="53" y="151"/>
                    <a:pt x="62" y="151"/>
                    <a:pt x="65" y="151"/>
                  </a:cubicBezTo>
                  <a:cubicBezTo>
                    <a:pt x="72" y="151"/>
                    <a:pt x="72" y="151"/>
                    <a:pt x="77" y="130"/>
                  </a:cubicBezTo>
                  <a:cubicBezTo>
                    <a:pt x="91" y="65"/>
                    <a:pt x="108" y="21"/>
                    <a:pt x="139" y="21"/>
                  </a:cubicBezTo>
                  <a:cubicBezTo>
                    <a:pt x="153" y="21"/>
                    <a:pt x="165" y="29"/>
                    <a:pt x="165" y="62"/>
                  </a:cubicBezTo>
                  <a:cubicBezTo>
                    <a:pt x="165" y="83"/>
                    <a:pt x="163" y="93"/>
                    <a:pt x="160" y="109"/>
                  </a:cubicBezTo>
                  <a:cubicBezTo>
                    <a:pt x="128" y="244"/>
                    <a:pt x="97" y="379"/>
                    <a:pt x="65" y="514"/>
                  </a:cubicBezTo>
                  <a:close/>
                  <a:moveTo>
                    <a:pt x="213" y="119"/>
                  </a:moveTo>
                  <a:cubicBezTo>
                    <a:pt x="220" y="96"/>
                    <a:pt x="242" y="70"/>
                    <a:pt x="256" y="57"/>
                  </a:cubicBezTo>
                  <a:cubicBezTo>
                    <a:pt x="287" y="29"/>
                    <a:pt x="311" y="21"/>
                    <a:pt x="326" y="21"/>
                  </a:cubicBezTo>
                  <a:cubicBezTo>
                    <a:pt x="359" y="21"/>
                    <a:pt x="378" y="52"/>
                    <a:pt x="378" y="106"/>
                  </a:cubicBezTo>
                  <a:cubicBezTo>
                    <a:pt x="378" y="161"/>
                    <a:pt x="352" y="265"/>
                    <a:pt x="335" y="301"/>
                  </a:cubicBezTo>
                  <a:cubicBezTo>
                    <a:pt x="306" y="364"/>
                    <a:pt x="268" y="395"/>
                    <a:pt x="237" y="395"/>
                  </a:cubicBezTo>
                  <a:cubicBezTo>
                    <a:pt x="180" y="395"/>
                    <a:pt x="170" y="319"/>
                    <a:pt x="170" y="314"/>
                  </a:cubicBezTo>
                  <a:cubicBezTo>
                    <a:pt x="170" y="312"/>
                    <a:pt x="170" y="309"/>
                    <a:pt x="172" y="299"/>
                  </a:cubicBezTo>
                  <a:cubicBezTo>
                    <a:pt x="186" y="239"/>
                    <a:pt x="200" y="179"/>
                    <a:pt x="213" y="119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E03FD03-E790-1D35-2052-BB2A8890450B}"/>
                </a:ext>
              </a:extLst>
            </p:cNvPr>
            <p:cNvSpPr/>
            <p:nvPr/>
          </p:nvSpPr>
          <p:spPr>
            <a:xfrm>
              <a:off x="9028440" y="2143080"/>
              <a:ext cx="157320" cy="154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8" h="431">
                  <a:moveTo>
                    <a:pt x="261" y="47"/>
                  </a:moveTo>
                  <a:cubicBezTo>
                    <a:pt x="263" y="29"/>
                    <a:pt x="266" y="26"/>
                    <a:pt x="278" y="23"/>
                  </a:cubicBezTo>
                  <a:cubicBezTo>
                    <a:pt x="283" y="23"/>
                    <a:pt x="302" y="23"/>
                    <a:pt x="314" y="23"/>
                  </a:cubicBezTo>
                  <a:cubicBezTo>
                    <a:pt x="350" y="23"/>
                    <a:pt x="366" y="23"/>
                    <a:pt x="381" y="29"/>
                  </a:cubicBezTo>
                  <a:cubicBezTo>
                    <a:pt x="407" y="36"/>
                    <a:pt x="407" y="57"/>
                    <a:pt x="407" y="78"/>
                  </a:cubicBezTo>
                  <a:cubicBezTo>
                    <a:pt x="407" y="88"/>
                    <a:pt x="407" y="99"/>
                    <a:pt x="402" y="130"/>
                  </a:cubicBezTo>
                  <a:cubicBezTo>
                    <a:pt x="402" y="132"/>
                    <a:pt x="402" y="135"/>
                    <a:pt x="402" y="138"/>
                  </a:cubicBezTo>
                  <a:cubicBezTo>
                    <a:pt x="402" y="143"/>
                    <a:pt x="407" y="148"/>
                    <a:pt x="412" y="148"/>
                  </a:cubicBezTo>
                  <a:cubicBezTo>
                    <a:pt x="421" y="148"/>
                    <a:pt x="421" y="143"/>
                    <a:pt x="424" y="132"/>
                  </a:cubicBezTo>
                  <a:cubicBezTo>
                    <a:pt x="429" y="92"/>
                    <a:pt x="433" y="51"/>
                    <a:pt x="438" y="10"/>
                  </a:cubicBezTo>
                  <a:cubicBezTo>
                    <a:pt x="438" y="0"/>
                    <a:pt x="433" y="0"/>
                    <a:pt x="421" y="0"/>
                  </a:cubicBezTo>
                  <a:cubicBezTo>
                    <a:pt x="301" y="0"/>
                    <a:pt x="180" y="0"/>
                    <a:pt x="60" y="0"/>
                  </a:cubicBezTo>
                  <a:cubicBezTo>
                    <a:pt x="45" y="0"/>
                    <a:pt x="43" y="0"/>
                    <a:pt x="38" y="13"/>
                  </a:cubicBezTo>
                  <a:cubicBezTo>
                    <a:pt x="26" y="51"/>
                    <a:pt x="14" y="89"/>
                    <a:pt x="2" y="127"/>
                  </a:cubicBezTo>
                  <a:cubicBezTo>
                    <a:pt x="2" y="130"/>
                    <a:pt x="0" y="135"/>
                    <a:pt x="0" y="138"/>
                  </a:cubicBezTo>
                  <a:cubicBezTo>
                    <a:pt x="0" y="140"/>
                    <a:pt x="0" y="148"/>
                    <a:pt x="10" y="148"/>
                  </a:cubicBezTo>
                  <a:cubicBezTo>
                    <a:pt x="17" y="148"/>
                    <a:pt x="19" y="143"/>
                    <a:pt x="22" y="132"/>
                  </a:cubicBezTo>
                  <a:cubicBezTo>
                    <a:pt x="55" y="29"/>
                    <a:pt x="74" y="23"/>
                    <a:pt x="165" y="23"/>
                  </a:cubicBezTo>
                  <a:cubicBezTo>
                    <a:pt x="173" y="23"/>
                    <a:pt x="181" y="23"/>
                    <a:pt x="189" y="23"/>
                  </a:cubicBezTo>
                  <a:cubicBezTo>
                    <a:pt x="208" y="23"/>
                    <a:pt x="208" y="23"/>
                    <a:pt x="208" y="29"/>
                  </a:cubicBezTo>
                  <a:cubicBezTo>
                    <a:pt x="208" y="31"/>
                    <a:pt x="208" y="34"/>
                    <a:pt x="206" y="44"/>
                  </a:cubicBezTo>
                  <a:cubicBezTo>
                    <a:pt x="180" y="156"/>
                    <a:pt x="153" y="267"/>
                    <a:pt x="127" y="379"/>
                  </a:cubicBezTo>
                  <a:cubicBezTo>
                    <a:pt x="122" y="403"/>
                    <a:pt x="120" y="408"/>
                    <a:pt x="60" y="408"/>
                  </a:cubicBezTo>
                  <a:cubicBezTo>
                    <a:pt x="38" y="408"/>
                    <a:pt x="34" y="408"/>
                    <a:pt x="34" y="423"/>
                  </a:cubicBezTo>
                  <a:cubicBezTo>
                    <a:pt x="34" y="426"/>
                    <a:pt x="34" y="431"/>
                    <a:pt x="43" y="431"/>
                  </a:cubicBezTo>
                  <a:cubicBezTo>
                    <a:pt x="60" y="431"/>
                    <a:pt x="77" y="431"/>
                    <a:pt x="93" y="431"/>
                  </a:cubicBezTo>
                  <a:cubicBezTo>
                    <a:pt x="110" y="431"/>
                    <a:pt x="127" y="428"/>
                    <a:pt x="144" y="428"/>
                  </a:cubicBezTo>
                  <a:cubicBezTo>
                    <a:pt x="160" y="428"/>
                    <a:pt x="180" y="428"/>
                    <a:pt x="196" y="431"/>
                  </a:cubicBezTo>
                  <a:cubicBezTo>
                    <a:pt x="213" y="431"/>
                    <a:pt x="230" y="431"/>
                    <a:pt x="247" y="431"/>
                  </a:cubicBezTo>
                  <a:cubicBezTo>
                    <a:pt x="251" y="431"/>
                    <a:pt x="259" y="431"/>
                    <a:pt x="259" y="418"/>
                  </a:cubicBezTo>
                  <a:cubicBezTo>
                    <a:pt x="259" y="408"/>
                    <a:pt x="254" y="408"/>
                    <a:pt x="235" y="408"/>
                  </a:cubicBezTo>
                  <a:cubicBezTo>
                    <a:pt x="225" y="408"/>
                    <a:pt x="213" y="408"/>
                    <a:pt x="201" y="408"/>
                  </a:cubicBezTo>
                  <a:cubicBezTo>
                    <a:pt x="182" y="405"/>
                    <a:pt x="180" y="403"/>
                    <a:pt x="180" y="395"/>
                  </a:cubicBezTo>
                  <a:cubicBezTo>
                    <a:pt x="180" y="392"/>
                    <a:pt x="180" y="390"/>
                    <a:pt x="182" y="382"/>
                  </a:cubicBezTo>
                  <a:cubicBezTo>
                    <a:pt x="208" y="270"/>
                    <a:pt x="235" y="158"/>
                    <a:pt x="261" y="47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>
              <a:no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GB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C687FFD-E577-A638-4C2F-18EC15B4F664}"/>
              </a:ext>
            </a:extLst>
          </p:cNvPr>
          <p:cNvSpPr txBox="1"/>
          <p:nvPr/>
        </p:nvSpPr>
        <p:spPr>
          <a:xfrm>
            <a:off x="5216875" y="2511480"/>
            <a:ext cx="232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Experimentally reported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13A6B8-FAC9-2DF4-C315-5658806A8DC8}"/>
              </a:ext>
            </a:extLst>
          </p:cNvPr>
          <p:cNvSpPr txBox="1"/>
          <p:nvPr/>
        </p:nvSpPr>
        <p:spPr>
          <a:xfrm>
            <a:off x="6836229" y="272730"/>
            <a:ext cx="2328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IP-</a:t>
            </a:r>
            <a:r>
              <a:rPr lang="en-US" dirty="0" err="1"/>
              <a:t>Glasma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34D31F0-93E6-D4CA-87C7-AA47FC167C4F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6836229" y="2251235"/>
            <a:ext cx="622080" cy="554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27D4A74-6BC3-098E-6ECF-446F267F87F5}"/>
              </a:ext>
            </a:extLst>
          </p:cNvPr>
          <p:cNvCxnSpPr>
            <a:cxnSpLocks/>
          </p:cNvCxnSpPr>
          <p:nvPr/>
        </p:nvCxnSpPr>
        <p:spPr>
          <a:xfrm>
            <a:off x="8164959" y="642062"/>
            <a:ext cx="939270" cy="711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6EE7CEB-12DA-4CD2-048A-2D8E8CD6F1E0}"/>
              </a:ext>
            </a:extLst>
          </p:cNvPr>
          <p:cNvCxnSpPr>
            <a:cxnSpLocks/>
          </p:cNvCxnSpPr>
          <p:nvPr/>
        </p:nvCxnSpPr>
        <p:spPr>
          <a:xfrm>
            <a:off x="7723809" y="713265"/>
            <a:ext cx="578159" cy="121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273B531-D36A-553D-E830-3988177A45F6}"/>
              </a:ext>
            </a:extLst>
          </p:cNvPr>
          <p:cNvCxnSpPr>
            <a:cxnSpLocks/>
          </p:cNvCxnSpPr>
          <p:nvPr/>
        </p:nvCxnSpPr>
        <p:spPr>
          <a:xfrm flipH="1" flipV="1">
            <a:off x="1223158" y="2121113"/>
            <a:ext cx="3948126" cy="26087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36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3F0DAE-3589-DEC4-67D4-10FEDAF7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Oxygen?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569DCA-9923-DA00-869A-5A8D5F219DB1}"/>
                  </a:ext>
                </a:extLst>
              </p:cNvPr>
              <p:cNvSpPr txBox="1"/>
              <p:nvPr/>
            </p:nvSpPr>
            <p:spPr>
              <a:xfrm>
                <a:off x="4282791" y="3455908"/>
                <a:ext cx="445911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Not enough suppression to describe data and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b="0" dirty="0"/>
                  <a:t> trend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Need energy loss to describe the suppression</a:t>
                </a:r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569DCA-9923-DA00-869A-5A8D5F219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791" y="3455908"/>
                <a:ext cx="4459111" cy="2246769"/>
              </a:xfrm>
              <a:prstGeom prst="rect">
                <a:avLst/>
              </a:prstGeom>
              <a:blipFill>
                <a:blip r:embed="rId2"/>
                <a:stretch>
                  <a:fillRect l="-1136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6AAB3BE-ACF4-E33E-E303-6C1418378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" y="2435469"/>
            <a:ext cx="4114335" cy="31170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491CFA-FE5D-47A2-C7DD-0907341ADBE2}"/>
                  </a:ext>
                </a:extLst>
              </p:cNvPr>
              <p:cNvSpPr txBox="1"/>
              <p:nvPr/>
            </p:nvSpPr>
            <p:spPr>
              <a:xfrm>
                <a:off x="1430237" y="1209139"/>
                <a:ext cx="4459111" cy="1039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Good agreement with measured minimum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𝑝𝑂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491CFA-FE5D-47A2-C7DD-0907341AD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237" y="1209139"/>
                <a:ext cx="4459111" cy="1039323"/>
              </a:xfrm>
              <a:prstGeom prst="rect">
                <a:avLst/>
              </a:prstGeom>
              <a:blipFill>
                <a:blip r:embed="rId4"/>
                <a:stretch>
                  <a:fillRect l="-1136" t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DA55DA22-0DF7-7953-E63B-712ACC4ACA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682" y="220827"/>
            <a:ext cx="4289676" cy="323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4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B83F5A1-8FEB-3B4B-19FC-A56EF3612B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Centrality 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B83F5A1-8FEB-3B4B-19FC-A56EF3612B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659" t="-29825" b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596287C-0C9F-7D36-911B-CA4E66891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00" y="1065213"/>
            <a:ext cx="5240579" cy="3912288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42E5E23-39FA-4BC3-BFA5-2AAD95DDED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spc="-1" dirty="0">
                <a:latin typeface="Noto Sans"/>
              </a:rPr>
              <a:t>CF</a:t>
            </a:r>
            <a:r>
              <a:rPr lang="en-GB" spc="-1" dirty="0">
                <a:latin typeface="Noto Sans"/>
              </a:rPr>
              <a:t>, W. A. Horowitz, B. Schenke arXiv:2606.xxxxx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BEBAF8-EF65-81AB-95A1-747CEDF6B567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95275" y="1708992"/>
            <a:ext cx="4479925" cy="1918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Centrality determined by soft particles at midrapidity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IP-</a:t>
            </a:r>
            <a:r>
              <a:rPr lang="en-US" dirty="0" err="1"/>
              <a:t>Glasma</a:t>
            </a:r>
            <a:r>
              <a:rPr lang="en-US" dirty="0"/>
              <a:t> reproduces the data very well!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 most peripheral collisions, we miss </a:t>
            </a:r>
            <a:r>
              <a:rPr lang="en-US" b="0" i="1" dirty="0"/>
              <a:t>jet-veto bias</a:t>
            </a:r>
            <a:r>
              <a:rPr lang="en-US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6413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D1F018D-436A-F86B-6F3C-608E817A5E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Centrality 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D1F018D-436A-F86B-6F3C-608E817A5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659" t="-24561" b="-40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14658FE-31C0-591E-5A62-632BB8109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43" y="1292914"/>
            <a:ext cx="4912782" cy="3684587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DAA54D5-FDF2-6F23-7DBB-EEDCBFDBCE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spc="-1" dirty="0">
                <a:latin typeface="Noto Sans"/>
              </a:rPr>
              <a:t>CF</a:t>
            </a:r>
            <a:r>
              <a:rPr lang="en-GB" spc="-1" dirty="0">
                <a:latin typeface="Noto Sans"/>
              </a:rPr>
              <a:t>, W. A. Horowitz, B. Schenke arXiv:2606.xxxxx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E067D38-E1AE-B42C-8B00-F06F1FC348C5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5290657" y="1720031"/>
            <a:ext cx="4479925" cy="274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 central collisions, we’re missing energy loss</a:t>
            </a:r>
          </a:p>
          <a:p>
            <a:pPr marL="342900" indent="-342900"/>
            <a:r>
              <a:rPr lang="en-US" dirty="0"/>
              <a:t>IP-</a:t>
            </a:r>
            <a:r>
              <a:rPr lang="en-US" dirty="0" err="1"/>
              <a:t>Glasma</a:t>
            </a:r>
            <a:r>
              <a:rPr lang="en-US" dirty="0"/>
              <a:t> reproduces the most peripheral data qualitatively very well!</a:t>
            </a:r>
          </a:p>
          <a:p>
            <a:pPr marL="342900" indent="-342900"/>
            <a:r>
              <a:rPr lang="en-US" dirty="0"/>
              <a:t>Quantitative disagreement in peripheral classes likely due to missing jet veto bias or residual energy loss </a:t>
            </a:r>
          </a:p>
        </p:txBody>
      </p:sp>
    </p:spTree>
    <p:extLst>
      <p:ext uri="{BB962C8B-B14F-4D97-AF65-F5344CB8AC3E}">
        <p14:creationId xmlns:p14="http://schemas.microsoft.com/office/powerpoint/2010/main" val="133288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39E8C3-7AEC-8E02-0F67-0C3ABFC994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29107" y="2314574"/>
                <a:ext cx="5344600" cy="362815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Nucleon-by-nucleon fluctuations in the local saturation scale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are correlated with both hard- and soft-multiplicity</a:t>
                </a:r>
              </a:p>
              <a:p>
                <a:r>
                  <a:rPr lang="en-US" b="0" dirty="0"/>
                  <a:t>Creates excess high-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gluons in central events and depletion of </a:t>
                </a:r>
                <a:r>
                  <a:rPr lang="en-US" dirty="0"/>
                  <a:t>high-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gluons in peripheral events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39E8C3-7AEC-8E02-0F67-0C3ABFC99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29107" y="2314574"/>
                <a:ext cx="5344600" cy="3628153"/>
              </a:xfrm>
              <a:blipFill>
                <a:blip r:embed="rId3"/>
                <a:stretch>
                  <a:fillRect l="-2850" t="-2787" r="-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3692BE3-E3D3-EA80-823E-78E119A3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825" y="117987"/>
            <a:ext cx="9360000" cy="1982275"/>
          </a:xfrm>
        </p:spPr>
        <p:txBody>
          <a:bodyPr/>
          <a:lstStyle/>
          <a:p>
            <a:r>
              <a:rPr lang="en-US" dirty="0"/>
              <a:t>What causes </a:t>
            </a:r>
            <a:br>
              <a:rPr lang="en-US" dirty="0"/>
            </a:br>
            <a:r>
              <a:rPr lang="en-US" dirty="0"/>
              <a:t>hard-soft </a:t>
            </a:r>
            <a:br>
              <a:rPr lang="en-US" dirty="0"/>
            </a:br>
            <a:r>
              <a:rPr lang="en-US" dirty="0"/>
              <a:t>correlations?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7829DFF-7FB4-6A33-DD94-5B517A328B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spc="-1" dirty="0">
                <a:latin typeface="Noto Sans"/>
              </a:rPr>
              <a:t>CF</a:t>
            </a:r>
            <a:r>
              <a:rPr lang="en-GB" spc="-1" dirty="0">
                <a:latin typeface="Noto Sans"/>
              </a:rPr>
              <a:t>, W. A. Horowitz, B. Schenke arXiv:2606.xxxxx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1D6759-AF32-624A-440B-753E938E1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707" y="117987"/>
            <a:ext cx="3964093" cy="55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2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746B-3CE1-04DC-75AD-8F1BABA8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00BCB-CB9C-950A-3CAA-BDE8F6F15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D5720-91E6-B0CF-4D6C-827BF6C8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outlook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F30F9-5D0A-E3DB-5B42-18E63DE7E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248" y="393094"/>
            <a:ext cx="3367695" cy="25141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D4EA75-9437-AA99-1C9F-DAE517B4ADA9}"/>
                  </a:ext>
                </a:extLst>
              </p:cNvPr>
              <p:cNvSpPr txBox="1"/>
              <p:nvPr/>
            </p:nvSpPr>
            <p:spPr>
              <a:xfrm>
                <a:off x="365209" y="1298457"/>
                <a:ext cx="4732263" cy="3718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ZA" dirty="0"/>
                  <a:t>Unified IP-</a:t>
                </a:r>
                <a:r>
                  <a:rPr lang="en-ZA" dirty="0" err="1"/>
                  <a:t>Glasma</a:t>
                </a:r>
                <a:r>
                  <a:rPr lang="en-ZA" dirty="0"/>
                  <a:t> framework reproduces centrality-dependent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/>
                        </m:ctrlPr>
                      </m:sSubPr>
                      <m:e>
                        <m:r>
                          <a:rPr lang="en-ZA" i="1"/>
                          <m:t>𝑅</m:t>
                        </m:r>
                      </m:e>
                      <m:sub>
                        <m:r>
                          <a:rPr lang="en-ZA" i="1"/>
                          <m:t>𝑝𝐴</m:t>
                        </m:r>
                      </m:sub>
                    </m:sSub>
                  </m:oMath>
                </a14:m>
                <a:r>
                  <a:rPr lang="en-ZA" dirty="0"/>
                  <a:t> and peripheral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/>
                        </m:ctrlPr>
                      </m:sSubPr>
                      <m:e>
                        <m:r>
                          <a:rPr lang="en-ZA" i="1"/>
                          <m:t>𝑅</m:t>
                        </m:r>
                      </m:e>
                      <m:sub>
                        <m:r>
                          <a:rPr lang="en-ZA" i="1"/>
                          <m:t>𝐴𝐴</m:t>
                        </m:r>
                      </m:sub>
                    </m:sSub>
                  </m:oMath>
                </a14:m>
                <a:endParaRPr lang="en-Z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ZA" dirty="0"/>
                  <a:t>Hard-soft correlations emerge from shared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/>
                        </m:ctrlPr>
                      </m:sSubPr>
                      <m:e>
                        <m:r>
                          <a:rPr lang="en-ZA" i="1"/>
                          <m:t>𝑄</m:t>
                        </m:r>
                      </m:e>
                      <m:sub>
                        <m:r>
                          <a:rPr lang="en-ZA" i="1"/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ZA" dirty="0"/>
                  <a:t>dependence</a:t>
                </a:r>
              </a:p>
              <a:p>
                <a:endParaRPr lang="en-Z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ZA" b="1" dirty="0"/>
                  <a:t>Future: </a:t>
                </a:r>
                <a:r>
                  <a:rPr lang="en-ZA" dirty="0"/>
                  <a:t>Add hydro + jet quenching to isolate initial- vs. final-state effects in small and peripheral systems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ZA" dirty="0"/>
                  <a:t>Reduce uncertainties by constraining low-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data</a:t>
                </a:r>
                <a:endParaRPr lang="en-Z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ZA" dirty="0"/>
                  <a:t>Centrality-cut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/>
                        </m:ctrlPr>
                      </m:sSubPr>
                      <m:e>
                        <m:r>
                          <a:rPr lang="en-ZA" i="1"/>
                          <m:t>𝑅</m:t>
                        </m:r>
                      </m:e>
                      <m:sub>
                        <m:r>
                          <a:rPr lang="en-ZA" i="1"/>
                          <m:t>𝑂𝑂</m:t>
                        </m:r>
                      </m:sub>
                    </m:sSub>
                  </m:oMath>
                </a14:m>
                <a:r>
                  <a:rPr lang="en-ZA" dirty="0"/>
                  <a:t>: ideal testbed for energy loss and hard-soft correlations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D4EA75-9437-AA99-1C9F-DAE517B4A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09" y="1298457"/>
                <a:ext cx="4732263" cy="3718134"/>
              </a:xfrm>
              <a:prstGeom prst="rect">
                <a:avLst/>
              </a:prstGeom>
              <a:blipFill>
                <a:blip r:embed="rId4"/>
                <a:stretch>
                  <a:fillRect l="-802" t="-680" r="-802" b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2F74003-76A9-F389-8A61-0562302E7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797" y="3156440"/>
            <a:ext cx="3352146" cy="251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43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Box 569"/>
          <p:cNvSpPr txBox="1"/>
          <p:nvPr/>
        </p:nvSpPr>
        <p:spPr>
          <a:xfrm>
            <a:off x="900000" y="2374560"/>
            <a:ext cx="8280000" cy="920880"/>
          </a:xfrm>
          <a:prstGeom prst="rect">
            <a:avLst/>
          </a:prstGeom>
          <a:noFill/>
          <a:ln w="1080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en-GB" sz="4800" b="0" strike="noStrike" spc="-1" dirty="0">
                <a:solidFill>
                  <a:srgbClr val="2C3E50"/>
                </a:solidFill>
                <a:latin typeface="Noto Sans"/>
              </a:rPr>
              <a:t>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F19C78-778B-116E-AD1D-5F9A5A73A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F2B71-AF3C-5ECA-1A28-6D9524BD15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682" y="1867975"/>
            <a:ext cx="3793691" cy="3684587"/>
          </a:xfrm>
        </p:spPr>
        <p:txBody>
          <a:bodyPr/>
          <a:lstStyle/>
          <a:p>
            <a:r>
              <a:rPr lang="en-US" dirty="0"/>
              <a:t>Deviations of IP-</a:t>
            </a:r>
            <a:r>
              <a:rPr lang="en-US" dirty="0" err="1"/>
              <a:t>Glasma</a:t>
            </a:r>
            <a:r>
              <a:rPr lang="en-US" dirty="0"/>
              <a:t> and ALICE reported </a:t>
            </a:r>
            <a:r>
              <a:rPr lang="en-US" dirty="0" err="1"/>
              <a:t>Ncoll</a:t>
            </a:r>
            <a:r>
              <a:rPr lang="en-US" dirty="0"/>
              <a:t> underscore importance of using experimental </a:t>
            </a:r>
            <a:r>
              <a:rPr lang="en-US" dirty="0" err="1"/>
              <a:t>Ncoll</a:t>
            </a:r>
            <a:r>
              <a:rPr lang="en-US" dirty="0"/>
              <a:t> when comparing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E29430-3D8A-9EC7-EFF0-0E908776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Ncoll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D07AD5-20D8-9333-38E9-8ADCF1A4C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252" y="238724"/>
            <a:ext cx="3793691" cy="51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3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B3095B-193A-C204-6D6B-3306B21B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825" y="117988"/>
            <a:ext cx="9360000" cy="1996562"/>
          </a:xfrm>
        </p:spPr>
        <p:txBody>
          <a:bodyPr/>
          <a:lstStyle/>
          <a:p>
            <a:r>
              <a:rPr lang="en-US" dirty="0"/>
              <a:t>What causes </a:t>
            </a:r>
            <a:br>
              <a:rPr lang="en-US" dirty="0"/>
            </a:br>
            <a:r>
              <a:rPr lang="en-US" dirty="0"/>
              <a:t>hard-soft </a:t>
            </a:r>
            <a:br>
              <a:rPr lang="en-US" dirty="0"/>
            </a:br>
            <a:r>
              <a:rPr lang="en-US" dirty="0"/>
              <a:t>correlations? (2)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2379397-5C87-1A51-9F52-E8C5BE020A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spc="-1" dirty="0">
                <a:latin typeface="Noto Sans"/>
              </a:rPr>
              <a:t>CF</a:t>
            </a:r>
            <a:r>
              <a:rPr lang="en-GB" spc="-1" dirty="0">
                <a:latin typeface="Noto Sans"/>
              </a:rPr>
              <a:t>, W. A. Horowitz, B. Schenke arXiv:2606.xxxxx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52CDF5-5F91-89E8-423A-9B12F223C73F}"/>
              </a:ext>
            </a:extLst>
          </p:cNvPr>
          <p:cNvGrpSpPr/>
          <p:nvPr/>
        </p:nvGrpSpPr>
        <p:grpSpPr>
          <a:xfrm>
            <a:off x="5867515" y="206806"/>
            <a:ext cx="4035310" cy="5400797"/>
            <a:chOff x="5253695" y="0"/>
            <a:chExt cx="4236861" cy="56705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7B4DF0-48F4-29F8-5BC5-3FE29BD01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3695" y="2443025"/>
              <a:ext cx="4236861" cy="32275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3E789C-16C9-B39C-3664-82D169AB0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307"/>
            <a:stretch>
              <a:fillRect/>
            </a:stretch>
          </p:blipFill>
          <p:spPr>
            <a:xfrm>
              <a:off x="5253695" y="0"/>
              <a:ext cx="4236860" cy="24430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AD3F3B5A-BBC5-872D-B862-1B801A282E3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229107" y="2314574"/>
                <a:ext cx="5344600" cy="362815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For </a:t>
                </a:r>
                <a:r>
                  <a:rPr lang="en-US" sz="2400" i="1" dirty="0" err="1"/>
                  <a:t>p</a:t>
                </a:r>
                <a:r>
                  <a:rPr lang="en-US" sz="2400" dirty="0" err="1"/>
                  <a:t>Pb</a:t>
                </a:r>
                <a:r>
                  <a:rPr lang="en-US" sz="2400" dirty="0"/>
                  <a:t>, all central classes have large fluctuations, explaining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𝑝𝐴</m:t>
                        </m:r>
                      </m:sub>
                    </m:sSub>
                  </m:oMath>
                </a14:m>
                <a:r>
                  <a:rPr lang="en-US" sz="2400" b="0" dirty="0"/>
                  <a:t>(cent)</a:t>
                </a:r>
              </a:p>
              <a:p>
                <a:r>
                  <a:rPr lang="en-US" sz="2400" dirty="0"/>
                  <a:t>For </a:t>
                </a:r>
                <a:r>
                  <a:rPr lang="en-US" sz="2400" dirty="0" err="1"/>
                  <a:t>PbPb</a:t>
                </a:r>
                <a:r>
                  <a:rPr lang="en-US" sz="2400" dirty="0"/>
                  <a:t>, only peripheral classes have large fluctuations, explaining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_{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cent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dirty="0"/>
              </a:p>
              <a:p>
                <a:endParaRPr lang="en-US" sz="2400" b="0" dirty="0"/>
              </a:p>
              <a:p>
                <a:endParaRPr lang="en-US" sz="2400" b="0" dirty="0"/>
              </a:p>
            </p:txBody>
          </p:sp>
        </mc:Choice>
        <mc:Fallback xmlns="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AD3F3B5A-BBC5-872D-B862-1B801A282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229107" y="2314574"/>
                <a:ext cx="5344600" cy="3628153"/>
              </a:xfrm>
              <a:blipFill>
                <a:blip r:embed="rId4"/>
                <a:stretch>
                  <a:fillRect l="-3325" t="-3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53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CC0A-819C-419D-19E8-B865A2E0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675177-0457-4464-C48E-5B96DE778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E0F136-61C0-62B5-B840-2FC94F7D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Oxygen?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8D02B-FBCB-2B17-CB7C-625E401AB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693" y="836908"/>
            <a:ext cx="3200466" cy="4108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401FF1-0E9F-800B-E569-44E32CCE0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159" y="781050"/>
            <a:ext cx="3200466" cy="4108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C406B2-3B7C-6FC6-FCED-5DF5C0E3E484}"/>
              </a:ext>
            </a:extLst>
          </p:cNvPr>
          <p:cNvSpPr txBox="1"/>
          <p:nvPr/>
        </p:nvSpPr>
        <p:spPr>
          <a:xfrm>
            <a:off x="542825" y="1658316"/>
            <a:ext cx="2857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Very good description of multiplicity distribution in </a:t>
            </a:r>
            <a:r>
              <a:rPr lang="en-US" sz="2400" i="1" dirty="0" err="1"/>
              <a:t>p</a:t>
            </a:r>
            <a:r>
              <a:rPr lang="en-US" sz="2400" dirty="0" err="1"/>
              <a:t>O</a:t>
            </a:r>
            <a:r>
              <a:rPr lang="en-US" sz="2400" dirty="0"/>
              <a:t> and OO</a:t>
            </a: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3344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35EE14-1E93-B3A2-F1A2-FBF4CDA3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IP-</a:t>
            </a:r>
            <a:r>
              <a:rPr lang="en-US" dirty="0" err="1"/>
              <a:t>Glasma</a:t>
            </a:r>
            <a:r>
              <a:rPr lang="en-US" dirty="0"/>
              <a:t> spectrum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A3CE4-8822-8D11-8580-B94D52CED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82" y="836908"/>
            <a:ext cx="3779598" cy="4715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ACD206-E041-8E4D-727C-8CFE74499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938" y="890732"/>
            <a:ext cx="3667119" cy="457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41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T theme with black">
      <a:dk1>
        <a:srgbClr val="000000"/>
      </a:dk1>
      <a:lt1>
        <a:srgbClr val="FFFFFF"/>
      </a:lt1>
      <a:dk2>
        <a:srgbClr val="000000"/>
      </a:dk2>
      <a:lt2>
        <a:srgbClr val="DCE0D9"/>
      </a:lt2>
      <a:accent1>
        <a:srgbClr val="019AD9"/>
      </a:accent1>
      <a:accent2>
        <a:srgbClr val="DB2855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UCT theme with black">
      <a:dk1>
        <a:srgbClr val="000000"/>
      </a:dk1>
      <a:lt1>
        <a:srgbClr val="FFFFFF"/>
      </a:lt1>
      <a:dk2>
        <a:srgbClr val="000000"/>
      </a:dk2>
      <a:lt2>
        <a:srgbClr val="DCE0D9"/>
      </a:lt2>
      <a:accent1>
        <a:srgbClr val="019AD9"/>
      </a:accent1>
      <a:accent2>
        <a:srgbClr val="DB2855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UCT poster theme">
      <a:dk1>
        <a:srgbClr val="274060"/>
      </a:dk1>
      <a:lt1>
        <a:srgbClr val="FFFFFF"/>
      </a:lt1>
      <a:dk2>
        <a:srgbClr val="44546A"/>
      </a:dk2>
      <a:lt2>
        <a:srgbClr val="DCE0D9"/>
      </a:lt2>
      <a:accent1>
        <a:srgbClr val="019AD9"/>
      </a:accent1>
      <a:accent2>
        <a:srgbClr val="DB2855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Midnightblue</Template>
  <TotalTime>44667</TotalTime>
  <Words>906</Words>
  <Application>Microsoft Macintosh PowerPoint</Application>
  <PresentationFormat>Custom</PresentationFormat>
  <Paragraphs>109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Arial</vt:lpstr>
      <vt:lpstr>Cambria Math</vt:lpstr>
      <vt:lpstr>Noto Sans</vt:lpstr>
      <vt:lpstr>Roboto</vt:lpstr>
      <vt:lpstr>Roboto Medium</vt:lpstr>
      <vt:lpstr>Symbol</vt:lpstr>
      <vt:lpstr>Wingdings</vt:lpstr>
      <vt:lpstr>Office Theme</vt:lpstr>
      <vt:lpstr>Office Theme</vt:lpstr>
      <vt:lpstr>1_Office Theme</vt:lpstr>
      <vt:lpstr>PowerPoint Presentation</vt:lpstr>
      <vt:lpstr>Quark-gluon plasma in small systems?</vt:lpstr>
      <vt:lpstr>Hard probes in small systems</vt:lpstr>
      <vt:lpstr>Why are centrality-selected  hard probes difficult?</vt:lpstr>
      <vt:lpstr>Tackling hard-soft correlations</vt:lpstr>
      <vt:lpstr>IP-Glasma as an initial-state</vt:lpstr>
      <vt:lpstr>Multiplicity distributions</vt:lpstr>
      <vt:lpstr>Minimum bias R_pA</vt:lpstr>
      <vt:lpstr>Oxygen?</vt:lpstr>
      <vt:lpstr>Centrality cut R_pA</vt:lpstr>
      <vt:lpstr>Centrality cut R_AA</vt:lpstr>
      <vt:lpstr>What causes  hard-soft  correlations?</vt:lpstr>
      <vt:lpstr>Summary and outlook</vt:lpstr>
      <vt:lpstr>PowerPoint Presentation</vt:lpstr>
      <vt:lpstr>Ncoll</vt:lpstr>
      <vt:lpstr>What causes  hard-soft  correlations? (2)</vt:lpstr>
      <vt:lpstr>Oxygen? </vt:lpstr>
      <vt:lpstr>IP-Glasma spectrum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subject/>
  <dc:creator/>
  <dc:description/>
  <cp:lastModifiedBy>Cole Faraday</cp:lastModifiedBy>
  <cp:revision>112</cp:revision>
  <cp:lastPrinted>2026-02-01T19:16:39Z</cp:lastPrinted>
  <dcterms:created xsi:type="dcterms:W3CDTF">2024-05-09T13:08:31Z</dcterms:created>
  <dcterms:modified xsi:type="dcterms:W3CDTF">2026-06-23T15:08:30Z</dcterms:modified>
  <dc:language>en-ZA</dc:language>
</cp:coreProperties>
</file>